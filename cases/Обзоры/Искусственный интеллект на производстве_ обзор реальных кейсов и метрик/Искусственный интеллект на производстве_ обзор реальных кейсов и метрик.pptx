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  <p:embeddedFont>
      <p:font typeface="Alimama ShuHeiTi" charset="-122" pitchFamily="34"/>
      <p:regular r:id="rId20"/>
    </p:embeddedFont>
    <p:embeddedFont>
      <p:font typeface="得意黑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u-images.contentstack.com/1b1bacd91ea565a7fc71212fa1575741e844f058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0F172A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52450" y="492123"/>
            <a:ext cx="57150" cy="688372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723900" y="530223"/>
            <a:ext cx="3771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b="1" spc="210" kern="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Аналитический обзор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3900" y="949323"/>
            <a:ext cx="6178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Производственные кейсы • Количественные метрики • Май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2450" y="1547404"/>
            <a:ext cx="117729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Искусственный интеллект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на производстве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2450" y="3555998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Обзор 20+ реальных внедрений ИИ в промышленности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 измеримыми результатами и количественными метриками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6096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88156" y="6200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50966"/>
                </a:lnTo>
                <a:cubicBezTo>
                  <a:pt x="171450" y="44872"/>
                  <a:pt x="164954" y="41021"/>
                  <a:pt x="159596" y="43901"/>
                </a:cubicBezTo>
                <a:lnTo>
                  <a:pt x="107156" y="72130"/>
                </a:lnTo>
                <a:lnTo>
                  <a:pt x="107156" y="50966"/>
                </a:lnTo>
                <a:cubicBezTo>
                  <a:pt x="107156" y="44872"/>
                  <a:pt x="100660" y="41021"/>
                  <a:pt x="95302" y="43901"/>
                </a:cubicBezTo>
                <a:lnTo>
                  <a:pt x="42863" y="72130"/>
                </a:lnTo>
                <a:lnTo>
                  <a:pt x="42863" y="21431"/>
                </a:lnTo>
                <a:cubicBezTo>
                  <a:pt x="42863" y="15504"/>
                  <a:pt x="38074" y="10716"/>
                  <a:pt x="32147" y="10716"/>
                </a:cubicBezTo>
                <a:lnTo>
                  <a:pt x="10716" y="1071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876300" y="61150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20+ кейсов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76300" y="6305550"/>
            <a:ext cx="27336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производственных внедрений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37881" y="6096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132337" y="6200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Text 12"/>
          <p:cNvSpPr/>
          <p:nvPr/>
        </p:nvSpPr>
        <p:spPr>
          <a:xfrm>
            <a:off x="4533181" y="611505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отраслей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33181" y="6305550"/>
            <a:ext cx="2260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 автомобилей до FMCG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14045" y="6096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421201" y="6200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7809345" y="6115050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Количественные KPI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809345" y="6305550"/>
            <a:ext cx="29493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измеримый эффект от внедрения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Содержание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Структура обзора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09700"/>
            <a:ext cx="5543550" cy="2162175"/>
          </a:xfrm>
          <a:custGeom>
            <a:avLst/>
            <a:gdLst/>
            <a:ahLst/>
            <a:cxnLst/>
            <a:rect l="l" t="t" r="r" b="b"/>
            <a:pathLst>
              <a:path w="5543550" h="2162175">
                <a:moveTo>
                  <a:pt x="38100" y="0"/>
                </a:moveTo>
                <a:lnTo>
                  <a:pt x="5429250" y="0"/>
                </a:lnTo>
                <a:cubicBezTo>
                  <a:pt x="5492334" y="0"/>
                  <a:pt x="5543550" y="51216"/>
                  <a:pt x="5543550" y="114300"/>
                </a:cubicBezTo>
                <a:lnTo>
                  <a:pt x="5543550" y="2047875"/>
                </a:lnTo>
                <a:cubicBezTo>
                  <a:pt x="5543550" y="2110959"/>
                  <a:pt x="5492334" y="2162175"/>
                  <a:pt x="5429250" y="2162175"/>
                </a:cubicBezTo>
                <a:lnTo>
                  <a:pt x="38100" y="2162175"/>
                </a:lnTo>
                <a:cubicBezTo>
                  <a:pt x="17072" y="2162175"/>
                  <a:pt x="0" y="2145103"/>
                  <a:pt x="0" y="2124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09700"/>
            <a:ext cx="38100" cy="2162175"/>
          </a:xfrm>
          <a:custGeom>
            <a:avLst/>
            <a:gdLst/>
            <a:ahLst/>
            <a:cxnLst/>
            <a:rect l="l" t="t" r="r" b="b"/>
            <a:pathLst>
              <a:path w="38100" h="2162175">
                <a:moveTo>
                  <a:pt x="38100" y="0"/>
                </a:moveTo>
                <a:lnTo>
                  <a:pt x="38100" y="0"/>
                </a:lnTo>
                <a:lnTo>
                  <a:pt x="38100" y="2162175"/>
                </a:lnTo>
                <a:lnTo>
                  <a:pt x="38100" y="2162175"/>
                </a:lnTo>
                <a:cubicBezTo>
                  <a:pt x="17072" y="2162175"/>
                  <a:pt x="0" y="2145103"/>
                  <a:pt x="0" y="2124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12428" y="176530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45778" y="189865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09700" y="1936750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Компьютерное зрение и контроль качества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09700" y="2574641"/>
            <a:ext cx="407790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Автоматизация визуального контроля: BMW, Foxconn, Midea, Federal Package. Метрики точности и производительности.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7450" y="1409700"/>
            <a:ext cx="5543550" cy="2162175"/>
          </a:xfrm>
          <a:custGeom>
            <a:avLst/>
            <a:gdLst/>
            <a:ahLst/>
            <a:cxnLst/>
            <a:rect l="l" t="t" r="r" b="b"/>
            <a:pathLst>
              <a:path w="5543550" h="2162175">
                <a:moveTo>
                  <a:pt x="38100" y="0"/>
                </a:moveTo>
                <a:lnTo>
                  <a:pt x="5429250" y="0"/>
                </a:lnTo>
                <a:cubicBezTo>
                  <a:pt x="5492334" y="0"/>
                  <a:pt x="5543550" y="51216"/>
                  <a:pt x="5543550" y="114300"/>
                </a:cubicBezTo>
                <a:lnTo>
                  <a:pt x="5543550" y="2047875"/>
                </a:lnTo>
                <a:cubicBezTo>
                  <a:pt x="5543550" y="2110959"/>
                  <a:pt x="5492334" y="2162175"/>
                  <a:pt x="5429250" y="2162175"/>
                </a:cubicBezTo>
                <a:lnTo>
                  <a:pt x="38100" y="2162175"/>
                </a:lnTo>
                <a:cubicBezTo>
                  <a:pt x="17072" y="2162175"/>
                  <a:pt x="0" y="2145103"/>
                  <a:pt x="0" y="2124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67450" y="1409700"/>
            <a:ext cx="38100" cy="2162175"/>
          </a:xfrm>
          <a:custGeom>
            <a:avLst/>
            <a:gdLst/>
            <a:ahLst/>
            <a:cxnLst/>
            <a:rect l="l" t="t" r="r" b="b"/>
            <a:pathLst>
              <a:path w="38100" h="2162175">
                <a:moveTo>
                  <a:pt x="38100" y="0"/>
                </a:moveTo>
                <a:lnTo>
                  <a:pt x="38100" y="0"/>
                </a:lnTo>
                <a:lnTo>
                  <a:pt x="38100" y="2162175"/>
                </a:lnTo>
                <a:lnTo>
                  <a:pt x="38100" y="2162175"/>
                </a:lnTo>
                <a:cubicBezTo>
                  <a:pt x="17072" y="2162175"/>
                  <a:pt x="0" y="2145103"/>
                  <a:pt x="0" y="2124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7000" y="176530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13178" y="189865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6B6D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77100" y="1803400"/>
            <a:ext cx="443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Предиктивное обслуживание и цифровые двойники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77100" y="2574641"/>
            <a:ext cx="44100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Прогнозирование отказов и полная цифровизация: BlueScope, Unilever, TSMC. Измеримый эффект в часах и процентах.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800475"/>
            <a:ext cx="5543550" cy="1895475"/>
          </a:xfrm>
          <a:custGeom>
            <a:avLst/>
            <a:gdLst/>
            <a:ahLst/>
            <a:cxnLst/>
            <a:rect l="l" t="t" r="r" b="b"/>
            <a:pathLst>
              <a:path w="5543550" h="1895475">
                <a:moveTo>
                  <a:pt x="38100" y="0"/>
                </a:moveTo>
                <a:lnTo>
                  <a:pt x="5429250" y="0"/>
                </a:lnTo>
                <a:cubicBezTo>
                  <a:pt x="5492334" y="0"/>
                  <a:pt x="5543550" y="51216"/>
                  <a:pt x="5543550" y="114300"/>
                </a:cubicBezTo>
                <a:lnTo>
                  <a:pt x="5543550" y="1781175"/>
                </a:lnTo>
                <a:cubicBezTo>
                  <a:pt x="5543550" y="1844259"/>
                  <a:pt x="5492334" y="1895475"/>
                  <a:pt x="5429250" y="1895475"/>
                </a:cubicBezTo>
                <a:lnTo>
                  <a:pt x="38100" y="1895475"/>
                </a:lnTo>
                <a:cubicBezTo>
                  <a:pt x="17072" y="1895475"/>
                  <a:pt x="0" y="1878403"/>
                  <a:pt x="0" y="1857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3800475"/>
            <a:ext cx="38100" cy="1895475"/>
          </a:xfrm>
          <a:custGeom>
            <a:avLst/>
            <a:gdLst/>
            <a:ahLst/>
            <a:cxnLst/>
            <a:rect l="l" t="t" r="r" b="b"/>
            <a:pathLst>
              <a:path w="38100" h="1895475">
                <a:moveTo>
                  <a:pt x="38100" y="0"/>
                </a:moveTo>
                <a:lnTo>
                  <a:pt x="38100" y="0"/>
                </a:lnTo>
                <a:lnTo>
                  <a:pt x="38100" y="1895475"/>
                </a:lnTo>
                <a:lnTo>
                  <a:pt x="38100" y="1895475"/>
                </a:lnTo>
                <a:cubicBezTo>
                  <a:pt x="17072" y="1895475"/>
                  <a:pt x="0" y="1878403"/>
                  <a:pt x="0" y="1857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1941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45778" y="4327525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09700" y="4327525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Интеллектуальная автоматизация и GenAI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09700" y="4889500"/>
            <a:ext cx="44100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Генеративный ИИ для инженерии: Schaeffler, Rockwell, Nestlé, Hyundai. От PLC до мультимодального RAG.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3800475"/>
            <a:ext cx="5543550" cy="1895475"/>
          </a:xfrm>
          <a:custGeom>
            <a:avLst/>
            <a:gdLst/>
            <a:ahLst/>
            <a:cxnLst/>
            <a:rect l="l" t="t" r="r" b="b"/>
            <a:pathLst>
              <a:path w="5543550" h="1895475">
                <a:moveTo>
                  <a:pt x="38100" y="0"/>
                </a:moveTo>
                <a:lnTo>
                  <a:pt x="5429250" y="0"/>
                </a:lnTo>
                <a:cubicBezTo>
                  <a:pt x="5492334" y="0"/>
                  <a:pt x="5543550" y="51216"/>
                  <a:pt x="5543550" y="114300"/>
                </a:cubicBezTo>
                <a:lnTo>
                  <a:pt x="5543550" y="1781175"/>
                </a:lnTo>
                <a:cubicBezTo>
                  <a:pt x="5543550" y="1844259"/>
                  <a:pt x="5492334" y="1895475"/>
                  <a:pt x="5429250" y="1895475"/>
                </a:cubicBezTo>
                <a:lnTo>
                  <a:pt x="38100" y="1895475"/>
                </a:lnTo>
                <a:cubicBezTo>
                  <a:pt x="17072" y="1895475"/>
                  <a:pt x="0" y="1878403"/>
                  <a:pt x="0" y="1857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67450" y="3800475"/>
            <a:ext cx="38100" cy="1895475"/>
          </a:xfrm>
          <a:custGeom>
            <a:avLst/>
            <a:gdLst/>
            <a:ahLst/>
            <a:cxnLst/>
            <a:rect l="l" t="t" r="r" b="b"/>
            <a:pathLst>
              <a:path w="38100" h="1895475">
                <a:moveTo>
                  <a:pt x="38100" y="0"/>
                </a:moveTo>
                <a:lnTo>
                  <a:pt x="38100" y="0"/>
                </a:lnTo>
                <a:lnTo>
                  <a:pt x="38100" y="1895475"/>
                </a:lnTo>
                <a:lnTo>
                  <a:pt x="38100" y="1895475"/>
                </a:lnTo>
                <a:cubicBezTo>
                  <a:pt x="17072" y="1895475"/>
                  <a:pt x="0" y="1878403"/>
                  <a:pt x="0" y="1857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7000" y="41814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613178" y="4314825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6B6D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77100" y="4194175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Планирование и оптимизация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77100" y="4670425"/>
            <a:ext cx="422534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ML-прогнозирование спроса и R&amp;D: Atria, Perfetti Van Melle, Hitachi. Точность 98.1% и сокращение циклов разработки.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5763" y="5929313"/>
            <a:ext cx="11420475" cy="542925"/>
          </a:xfrm>
          <a:prstGeom prst="roundRect">
            <a:avLst>
              <a:gd name="adj" fmla="val 21053"/>
            </a:avLst>
          </a:pr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6750" y="61055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971550" y="6086475"/>
            <a:ext cx="10530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Ключевой вывод:</a:t>
            </a:r>
            <a:pPr>
              <a:lnSpc>
                <a:spcPct val="130000"/>
              </a:lnSpc>
            </a:pPr>
            <a:r>
              <a:rPr lang="en-US" sz="130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60% компаний не генерируют материальной выгоды от AI. Узкое место — интеграция OT/IT, а не алгоритмы.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labellerr.com/1fbbf4559c833aefbd822fde10c64d6870316349.webp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4061" b="406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F172A">
                  <a:alpha val="98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F172A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90525" y="1343025"/>
            <a:ext cx="742950" cy="742950"/>
          </a:xfrm>
          <a:prstGeom prst="roundRect">
            <a:avLst>
              <a:gd name="adj" fmla="val 20513"/>
            </a:avLst>
          </a:prstGeom>
          <a:solidFill>
            <a:srgbClr val="F59E0B">
              <a:alpha val="20000"/>
            </a:srgbClr>
          </a:solidFill>
          <a:ln w="254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9668" y="152400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409700"/>
            <a:ext cx="38100" cy="6096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400300"/>
            <a:ext cx="10983858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Компьютерное зрение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и контроль качества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05765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Автоматизация визуального контроля с применением нейросетей —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самый массовый сценарий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внедрения ИИ на производстве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276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6571" y="28932"/>
                </a:moveTo>
                <a:lnTo>
                  <a:pt x="61927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6673" y="42863"/>
                </a:lnTo>
                <a:lnTo>
                  <a:pt x="162029" y="28932"/>
                </a:lnTo>
                <a:cubicBezTo>
                  <a:pt x="159127" y="20181"/>
                  <a:pt x="150956" y="14288"/>
                  <a:pt x="141714" y="14288"/>
                </a:cubicBezTo>
                <a:lnTo>
                  <a:pt x="86886" y="14288"/>
                </a:lnTo>
                <a:cubicBezTo>
                  <a:pt x="77644" y="14288"/>
                  <a:pt x="69473" y="20181"/>
                  <a:pt x="66571" y="28932"/>
                </a:cubicBezTo>
                <a:close/>
                <a:moveTo>
                  <a:pt x="114300" y="85725"/>
                </a:moveTo>
                <a:cubicBezTo>
                  <a:pt x="137956" y="85725"/>
                  <a:pt x="157163" y="104931"/>
                  <a:pt x="157163" y="128588"/>
                </a:cubicBezTo>
                <a:cubicBezTo>
                  <a:pt x="157163" y="152244"/>
                  <a:pt x="137956" y="171450"/>
                  <a:pt x="114300" y="171450"/>
                </a:cubicBezTo>
                <a:cubicBezTo>
                  <a:pt x="90644" y="171450"/>
                  <a:pt x="71438" y="152244"/>
                  <a:pt x="71438" y="128588"/>
                </a:cubicBezTo>
                <a:cubicBezTo>
                  <a:pt x="71438" y="104931"/>
                  <a:pt x="90644" y="85725"/>
                  <a:pt x="114300" y="8572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257800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CV QA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538064" y="52768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1938114" y="5257800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MLOps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71626" y="52768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3128814" y="52578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Synthetic Data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Сценарий: Computer Vision / Quality Control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Кейсы компьютерного зрения: от автомобилей до упаковки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09663"/>
            <a:ext cx="6356442" cy="1756214"/>
          </a:xfrm>
          <a:prstGeom prst="roundRect">
            <a:avLst>
              <a:gd name="adj" fmla="val 7143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1825" y="12795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6125" y="1393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0243" y="34945"/>
                </a:moveTo>
                <a:lnTo>
                  <a:pt x="32474" y="57150"/>
                </a:lnTo>
                <a:lnTo>
                  <a:pt x="119926" y="57150"/>
                </a:lnTo>
                <a:lnTo>
                  <a:pt x="112157" y="34945"/>
                </a:lnTo>
                <a:cubicBezTo>
                  <a:pt x="110817" y="31135"/>
                  <a:pt x="107216" y="28575"/>
                  <a:pt x="103168" y="28575"/>
                </a:cubicBezTo>
                <a:lnTo>
                  <a:pt x="49232" y="28575"/>
                </a:lnTo>
                <a:cubicBezTo>
                  <a:pt x="45184" y="28575"/>
                  <a:pt x="41583" y="31135"/>
                  <a:pt x="40243" y="34945"/>
                </a:cubicBezTo>
                <a:close/>
                <a:moveTo>
                  <a:pt x="11787" y="58579"/>
                </a:moveTo>
                <a:lnTo>
                  <a:pt x="22265" y="28664"/>
                </a:lnTo>
                <a:cubicBezTo>
                  <a:pt x="26283" y="17205"/>
                  <a:pt x="37088" y="9525"/>
                  <a:pt x="49232" y="9525"/>
                </a:cubicBezTo>
                <a:lnTo>
                  <a:pt x="103168" y="9525"/>
                </a:lnTo>
                <a:cubicBezTo>
                  <a:pt x="115312" y="9525"/>
                  <a:pt x="126117" y="17205"/>
                  <a:pt x="130135" y="28664"/>
                </a:cubicBezTo>
                <a:lnTo>
                  <a:pt x="140613" y="58579"/>
                </a:lnTo>
                <a:cubicBezTo>
                  <a:pt x="147518" y="61436"/>
                  <a:pt x="152400" y="68253"/>
                  <a:pt x="152400" y="762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33350" y="142875"/>
                </a:lnTo>
                <a:cubicBezTo>
                  <a:pt x="128081" y="142875"/>
                  <a:pt x="123825" y="138619"/>
                  <a:pt x="123825" y="133350"/>
                </a:cubicBezTo>
                <a:lnTo>
                  <a:pt x="123825" y="123825"/>
                </a:lnTo>
                <a:lnTo>
                  <a:pt x="28575" y="123825"/>
                </a:lnTo>
                <a:lnTo>
                  <a:pt x="28575" y="133350"/>
                </a:lnTo>
                <a:cubicBezTo>
                  <a:pt x="28575" y="138619"/>
                  <a:pt x="24319" y="142875"/>
                  <a:pt x="1905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76200"/>
                </a:lnTo>
                <a:cubicBezTo>
                  <a:pt x="0" y="68253"/>
                  <a:pt x="4882" y="61436"/>
                  <a:pt x="11787" y="58579"/>
                </a:cubicBezTo>
                <a:close/>
                <a:moveTo>
                  <a:pt x="38100" y="90488"/>
                </a:moveTo>
                <a:cubicBezTo>
                  <a:pt x="38100" y="85231"/>
                  <a:pt x="33832" y="80962"/>
                  <a:pt x="28575" y="80962"/>
                </a:cubicBezTo>
                <a:cubicBezTo>
                  <a:pt x="23318" y="80962"/>
                  <a:pt x="19050" y="85231"/>
                  <a:pt x="19050" y="90488"/>
                </a:cubicBezTo>
                <a:cubicBezTo>
                  <a:pt x="19050" y="95744"/>
                  <a:pt x="23318" y="100013"/>
                  <a:pt x="28575" y="100013"/>
                </a:cubicBezTo>
                <a:cubicBezTo>
                  <a:pt x="33832" y="100013"/>
                  <a:pt x="38100" y="95744"/>
                  <a:pt x="38100" y="90488"/>
                </a:cubicBezTo>
                <a:close/>
                <a:moveTo>
                  <a:pt x="123825" y="100013"/>
                </a:moveTo>
                <a:cubicBezTo>
                  <a:pt x="129082" y="100013"/>
                  <a:pt x="133350" y="95744"/>
                  <a:pt x="133350" y="90488"/>
                </a:cubicBezTo>
                <a:cubicBezTo>
                  <a:pt x="133350" y="85231"/>
                  <a:pt x="129082" y="80962"/>
                  <a:pt x="123825" y="80962"/>
                </a:cubicBezTo>
                <a:cubicBezTo>
                  <a:pt x="118568" y="80962"/>
                  <a:pt x="114300" y="85231"/>
                  <a:pt x="114300" y="90488"/>
                </a:cubicBezTo>
                <a:cubicBezTo>
                  <a:pt x="114300" y="95744"/>
                  <a:pt x="118568" y="100013"/>
                  <a:pt x="123825" y="10001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127125" y="1279525"/>
            <a:ext cx="2333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BMW Group + NVIDIA AIQX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47988" y="1419225"/>
            <a:ext cx="1234304" cy="34290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161517" y="1431925"/>
            <a:ext cx="10953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 / Германия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7125" y="1571625"/>
            <a:ext cx="3926681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CV QA, MLOps, synthetic data. Глобальное развертывание системы контроля качества.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7125" y="2232902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9E0B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8×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8793" y="2290052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продуктивность 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90998" y="2232902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9E0B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−66%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68067" y="2290052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время QA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8360" y="2232902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9E0B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4-6×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41936" y="2290052"/>
            <a:ext cx="542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 legacy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3019425"/>
            <a:ext cx="6361205" cy="1733698"/>
          </a:xfrm>
          <a:prstGeom prst="roundRect">
            <a:avLst>
              <a:gd name="adj" fmla="val 7143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1825" y="3214688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6125" y="33289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125" y="3138488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Foxconn + Huawei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47988" y="3290888"/>
            <a:ext cx="1234304" cy="356478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237882" y="3163888"/>
            <a:ext cx="968210" cy="5080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Электроника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7125" y="3443288"/>
            <a:ext cx="405979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CV QC на линии сборки электроники. Масштабная автоматизация контроля.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0125" y="4094106"/>
            <a:ext cx="54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6B6D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&gt;6000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6530" y="4151256"/>
            <a:ext cx="438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ед/мес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58814" y="4094106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6B6D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&gt;99%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27102" y="4151256"/>
            <a:ext cx="542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точность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4935543"/>
            <a:ext cx="2828181" cy="1536695"/>
          </a:xfrm>
          <a:prstGeom prst="roundRect">
            <a:avLst>
              <a:gd name="adj" fmla="val 7407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125" y="5001022"/>
            <a:ext cx="122064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Midea + Huawei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142207" y="5139534"/>
            <a:ext cx="897582" cy="564356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204641" y="5267722"/>
            <a:ext cx="8477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Быттехника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1825" y="5418534"/>
            <a:ext cx="1426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CV QC холодильников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1825" y="5791200"/>
            <a:ext cx="419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+10%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40135" y="5848350"/>
            <a:ext cx="105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detection accuracy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333750" y="4935543"/>
            <a:ext cx="3408455" cy="1536695"/>
          </a:xfrm>
          <a:prstGeom prst="roundRect">
            <a:avLst>
              <a:gd name="adj" fmla="val 7407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3984" y="5001022"/>
            <a:ext cx="20669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Federal Package + Cognex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58827" y="5150644"/>
            <a:ext cx="915622" cy="564356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793118" y="5145090"/>
            <a:ext cx="723238" cy="5080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FMCG / Упаковка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563984" y="5418534"/>
            <a:ext cx="20821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Edge learning: капли, этикетка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563984" y="5791200"/>
            <a:ext cx="43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6B6D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&gt;99%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005755" y="5848350"/>
            <a:ext cx="923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defect detection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983885" y="1109663"/>
            <a:ext cx="4822352" cy="2678280"/>
          </a:xfrm>
          <a:prstGeom prst="roundRect">
            <a:avLst>
              <a:gd name="adj" fmla="val 2332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66013" y="1492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7724775" y="1419225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Распределение по отраслям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42200" y="1825625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Автомобили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573246" y="1825625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кейса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42200" y="2054225"/>
            <a:ext cx="3609975" cy="762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48" name="Shape 46"/>
          <p:cNvSpPr/>
          <p:nvPr/>
        </p:nvSpPr>
        <p:spPr>
          <a:xfrm>
            <a:off x="7442200" y="2054225"/>
            <a:ext cx="108585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7442200" y="2206625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Электроника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573246" y="2206625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кейса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42200" y="2435225"/>
            <a:ext cx="3609975" cy="762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52" name="Shape 50"/>
          <p:cNvSpPr/>
          <p:nvPr/>
        </p:nvSpPr>
        <p:spPr>
          <a:xfrm>
            <a:off x="7442200" y="2435225"/>
            <a:ext cx="108585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7442200" y="2587625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FMCG / Упаковка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576744" y="2587625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кейса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442200" y="2816225"/>
            <a:ext cx="3609975" cy="762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56" name="Shape 54"/>
          <p:cNvSpPr/>
          <p:nvPr/>
        </p:nvSpPr>
        <p:spPr>
          <a:xfrm>
            <a:off x="7442200" y="2816225"/>
            <a:ext cx="723900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7442200" y="296862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Быттехника / Металл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576744" y="2968625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кейса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442200" y="3197225"/>
            <a:ext cx="3609975" cy="762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60" name="Shape 58"/>
          <p:cNvSpPr/>
          <p:nvPr/>
        </p:nvSpPr>
        <p:spPr>
          <a:xfrm>
            <a:off x="7442200" y="3197225"/>
            <a:ext cx="7239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61" name="Shape 59"/>
          <p:cNvSpPr/>
          <p:nvPr/>
        </p:nvSpPr>
        <p:spPr>
          <a:xfrm>
            <a:off x="6983885" y="4094106"/>
            <a:ext cx="4822352" cy="1487544"/>
          </a:xfrm>
          <a:prstGeom prst="roundRect">
            <a:avLst>
              <a:gd name="adj" fmla="val 6015"/>
            </a:avLst>
          </a:pr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80300" y="436324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7670800" y="4299744"/>
            <a:ext cx="349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Ключевой вывод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442200" y="4629944"/>
            <a:ext cx="36766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CV на линии требует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данных и MLOps-инфраструктуры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. Синтетические данные и edge learning снижают time-to-deploy.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983885" y="5753100"/>
            <a:ext cx="4822352" cy="719138"/>
          </a:xfrm>
          <a:prstGeom prst="roundRect">
            <a:avLst>
              <a:gd name="adj" fmla="val 1311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04100" y="5921375"/>
            <a:ext cx="3743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Источники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404100" y="6111875"/>
            <a:ext cx="3743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NVIDIA, Huawei, Cognex, Axis — vendor case studies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dvancedtech.com/d5ee2c5eb35bdf5595eb1455d02fde84f0c41789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3481" r="348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F172A">
                  <a:alpha val="98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F172A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90525" y="365125"/>
            <a:ext cx="742950" cy="742950"/>
          </a:xfrm>
          <a:prstGeom prst="roundRect">
            <a:avLst>
              <a:gd name="adj" fmla="val 20513"/>
            </a:avLst>
          </a:prstGeom>
          <a:solidFill>
            <a:srgbClr val="06B6D4">
              <a:alpha val="20000"/>
            </a:srgbClr>
          </a:solidFill>
          <a:ln w="254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9668" y="54610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431800"/>
            <a:ext cx="38100" cy="609600"/>
          </a:xfrm>
          <a:prstGeom prst="roundRect">
            <a:avLst>
              <a:gd name="adj" fmla="val 0"/>
            </a:avLst>
          </a:prstGeom>
          <a:solidFill>
            <a:srgbClr val="06B6D4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1981200"/>
            <a:ext cx="80295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Предиктивное обслуживание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06B6D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и цифровые двойники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05765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Переход от реактивного ремонта к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прогнозированию отказов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 полной цифровизации производственного процесса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721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48176"/>
                </a:moveTo>
                <a:lnTo>
                  <a:pt x="107603" y="38889"/>
                </a:lnTo>
                <a:cubicBezTo>
                  <a:pt x="96441" y="23440"/>
                  <a:pt x="78537" y="14288"/>
                  <a:pt x="59427" y="14288"/>
                </a:cubicBezTo>
                <a:cubicBezTo>
                  <a:pt x="26610" y="14288"/>
                  <a:pt x="0" y="40898"/>
                  <a:pt x="0" y="73715"/>
                </a:cubicBezTo>
                <a:lnTo>
                  <a:pt x="0" y="74875"/>
                </a:lnTo>
                <a:cubicBezTo>
                  <a:pt x="0" y="85412"/>
                  <a:pt x="2768" y="96307"/>
                  <a:pt x="7412" y="107156"/>
                </a:cubicBezTo>
                <a:lnTo>
                  <a:pt x="54739" y="107156"/>
                </a:lnTo>
                <a:cubicBezTo>
                  <a:pt x="56168" y="107156"/>
                  <a:pt x="57463" y="106308"/>
                  <a:pt x="58043" y="104968"/>
                </a:cubicBezTo>
                <a:lnTo>
                  <a:pt x="72241" y="70902"/>
                </a:lnTo>
                <a:cubicBezTo>
                  <a:pt x="73893" y="66973"/>
                  <a:pt x="77733" y="64383"/>
                  <a:pt x="81975" y="64294"/>
                </a:cubicBezTo>
                <a:cubicBezTo>
                  <a:pt x="86216" y="64204"/>
                  <a:pt x="90145" y="66705"/>
                  <a:pt x="91886" y="70589"/>
                </a:cubicBezTo>
                <a:lnTo>
                  <a:pt x="114791" y="121444"/>
                </a:lnTo>
                <a:lnTo>
                  <a:pt x="133276" y="84475"/>
                </a:lnTo>
                <a:cubicBezTo>
                  <a:pt x="135106" y="80858"/>
                  <a:pt x="138812" y="78537"/>
                  <a:pt x="142875" y="78537"/>
                </a:cubicBezTo>
                <a:cubicBezTo>
                  <a:pt x="146938" y="78537"/>
                  <a:pt x="150644" y="80814"/>
                  <a:pt x="152474" y="84475"/>
                </a:cubicBezTo>
                <a:lnTo>
                  <a:pt x="162833" y="105147"/>
                </a:lnTo>
                <a:cubicBezTo>
                  <a:pt x="163458" y="106353"/>
                  <a:pt x="164663" y="107112"/>
                  <a:pt x="166048" y="107112"/>
                </a:cubicBezTo>
                <a:lnTo>
                  <a:pt x="221233" y="107112"/>
                </a:lnTo>
                <a:cubicBezTo>
                  <a:pt x="225921" y="96262"/>
                  <a:pt x="228645" y="85368"/>
                  <a:pt x="228645" y="74831"/>
                </a:cubicBezTo>
                <a:lnTo>
                  <a:pt x="228645" y="73670"/>
                </a:lnTo>
                <a:cubicBezTo>
                  <a:pt x="228600" y="40898"/>
                  <a:pt x="201990" y="14288"/>
                  <a:pt x="169173" y="14288"/>
                </a:cubicBezTo>
                <a:cubicBezTo>
                  <a:pt x="150108" y="14288"/>
                  <a:pt x="132159" y="23440"/>
                  <a:pt x="120997" y="38889"/>
                </a:cubicBezTo>
                <a:lnTo>
                  <a:pt x="114300" y="48131"/>
                </a:lnTo>
                <a:close/>
                <a:moveTo>
                  <a:pt x="209669" y="128588"/>
                </a:moveTo>
                <a:lnTo>
                  <a:pt x="166003" y="128588"/>
                </a:lnTo>
                <a:cubicBezTo>
                  <a:pt x="156537" y="128588"/>
                  <a:pt x="147876" y="123230"/>
                  <a:pt x="143634" y="114746"/>
                </a:cubicBezTo>
                <a:lnTo>
                  <a:pt x="142875" y="113228"/>
                </a:lnTo>
                <a:lnTo>
                  <a:pt x="123899" y="151224"/>
                </a:lnTo>
                <a:cubicBezTo>
                  <a:pt x="122069" y="154930"/>
                  <a:pt x="118229" y="157252"/>
                  <a:pt x="114077" y="157163"/>
                </a:cubicBezTo>
                <a:cubicBezTo>
                  <a:pt x="109924" y="157073"/>
                  <a:pt x="106219" y="154618"/>
                  <a:pt x="104522" y="150867"/>
                </a:cubicBezTo>
                <a:lnTo>
                  <a:pt x="82510" y="101977"/>
                </a:lnTo>
                <a:lnTo>
                  <a:pt x="77822" y="113228"/>
                </a:lnTo>
                <a:cubicBezTo>
                  <a:pt x="73938" y="122560"/>
                  <a:pt x="64830" y="128632"/>
                  <a:pt x="54739" y="128632"/>
                </a:cubicBezTo>
                <a:lnTo>
                  <a:pt x="18931" y="128632"/>
                </a:lnTo>
                <a:cubicBezTo>
                  <a:pt x="40005" y="161583"/>
                  <a:pt x="73849" y="191899"/>
                  <a:pt x="95012" y="208062"/>
                </a:cubicBezTo>
                <a:cubicBezTo>
                  <a:pt x="100548" y="212259"/>
                  <a:pt x="107335" y="214357"/>
                  <a:pt x="114255" y="214357"/>
                </a:cubicBezTo>
                <a:cubicBezTo>
                  <a:pt x="121176" y="214357"/>
                  <a:pt x="128007" y="212303"/>
                  <a:pt x="133499" y="208062"/>
                </a:cubicBezTo>
                <a:cubicBezTo>
                  <a:pt x="154751" y="191854"/>
                  <a:pt x="188595" y="161538"/>
                  <a:pt x="209669" y="128588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702300"/>
            <a:ext cx="44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PdM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96082" y="5721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8588" y="200025"/>
                </a:moveTo>
                <a:lnTo>
                  <a:pt x="28575" y="200025"/>
                </a:lnTo>
                <a:lnTo>
                  <a:pt x="28575" y="100013"/>
                </a:lnTo>
                <a:lnTo>
                  <a:pt x="50006" y="100013"/>
                </a:lnTo>
                <a:lnTo>
                  <a:pt x="50006" y="71438"/>
                </a:lnTo>
                <a:lnTo>
                  <a:pt x="28575" y="71438"/>
                </a:lnTo>
                <a:cubicBezTo>
                  <a:pt x="12814" y="71438"/>
                  <a:pt x="0" y="84252"/>
                  <a:pt x="0" y="100013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28588" y="228600"/>
                </a:lnTo>
                <a:cubicBezTo>
                  <a:pt x="144348" y="228600"/>
                  <a:pt x="157163" y="215786"/>
                  <a:pt x="157163" y="200025"/>
                </a:cubicBezTo>
                <a:lnTo>
                  <a:pt x="157163" y="178594"/>
                </a:lnTo>
                <a:lnTo>
                  <a:pt x="128588" y="178594"/>
                </a:lnTo>
                <a:lnTo>
                  <a:pt x="128588" y="200025"/>
                </a:lnTo>
                <a:close/>
                <a:moveTo>
                  <a:pt x="100013" y="157163"/>
                </a:moveTo>
                <a:lnTo>
                  <a:pt x="200025" y="157163"/>
                </a:lnTo>
                <a:cubicBezTo>
                  <a:pt x="215786" y="157163"/>
                  <a:pt x="228600" y="144348"/>
                  <a:pt x="228600" y="128588"/>
                </a:cubicBezTo>
                <a:lnTo>
                  <a:pt x="228600" y="28575"/>
                </a:lnTo>
                <a:cubicBezTo>
                  <a:pt x="228600" y="12814"/>
                  <a:pt x="215786" y="0"/>
                  <a:pt x="200025" y="0"/>
                </a:cubicBezTo>
                <a:lnTo>
                  <a:pt x="100013" y="0"/>
                </a:lnTo>
                <a:cubicBezTo>
                  <a:pt x="84252" y="0"/>
                  <a:pt x="71438" y="12814"/>
                  <a:pt x="71438" y="28575"/>
                </a:cubicBezTo>
                <a:lnTo>
                  <a:pt x="71438" y="128588"/>
                </a:lnTo>
                <a:cubicBezTo>
                  <a:pt x="71438" y="144348"/>
                  <a:pt x="84252" y="157163"/>
                  <a:pt x="100013" y="15716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1767557" y="5702300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 Twin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957959" y="5721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107156" y="42863"/>
                </a:moveTo>
                <a:cubicBezTo>
                  <a:pt x="110148" y="42863"/>
                  <a:pt x="113005" y="44113"/>
                  <a:pt x="115059" y="46345"/>
                </a:cubicBezTo>
                <a:lnTo>
                  <a:pt x="146804" y="80948"/>
                </a:lnTo>
                <a:lnTo>
                  <a:pt x="167432" y="60275"/>
                </a:lnTo>
                <a:cubicBezTo>
                  <a:pt x="171629" y="56078"/>
                  <a:pt x="178415" y="56078"/>
                  <a:pt x="182567" y="60275"/>
                </a:cubicBezTo>
                <a:lnTo>
                  <a:pt x="211142" y="88850"/>
                </a:lnTo>
                <a:cubicBezTo>
                  <a:pt x="213152" y="90860"/>
                  <a:pt x="214268" y="93583"/>
                  <a:pt x="214268" y="96441"/>
                </a:cubicBezTo>
                <a:lnTo>
                  <a:pt x="214268" y="146447"/>
                </a:lnTo>
                <a:cubicBezTo>
                  <a:pt x="214268" y="152385"/>
                  <a:pt x="209490" y="157163"/>
                  <a:pt x="203552" y="157163"/>
                </a:cubicBezTo>
                <a:lnTo>
                  <a:pt x="67821" y="157163"/>
                </a:lnTo>
                <a:cubicBezTo>
                  <a:pt x="61883" y="157163"/>
                  <a:pt x="57105" y="152385"/>
                  <a:pt x="57105" y="146447"/>
                </a:cubicBezTo>
                <a:lnTo>
                  <a:pt x="57105" y="96441"/>
                </a:lnTo>
                <a:cubicBezTo>
                  <a:pt x="57105" y="93762"/>
                  <a:pt x="58132" y="91172"/>
                  <a:pt x="59918" y="89208"/>
                </a:cubicBezTo>
                <a:lnTo>
                  <a:pt x="99209" y="46345"/>
                </a:lnTo>
                <a:cubicBezTo>
                  <a:pt x="101218" y="44113"/>
                  <a:pt x="104120" y="42863"/>
                  <a:pt x="107112" y="4286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4" name="Text 11"/>
          <p:cNvSpPr/>
          <p:nvPr/>
        </p:nvSpPr>
        <p:spPr>
          <a:xfrm>
            <a:off x="3329434" y="5702300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OEE Analytics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Сценарий: Predictive Maintenance / Digital Twin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PdM и Digital Twin: измеримый эффект от внедрения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09663"/>
            <a:ext cx="3695700" cy="4476750"/>
          </a:xfrm>
          <a:prstGeom prst="roundRect">
            <a:avLst>
              <a:gd name="adj" fmla="val 2062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5" y="126682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76275" y="1400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2380712" y="1381125"/>
            <a:ext cx="1549095" cy="342900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59947" y="1381125"/>
            <a:ext cx="1190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Металлургия / AU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1838325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BlueScope + Siemens Senseye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925" y="2181225"/>
            <a:ext cx="34480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PdM на глобальных производственных площадках. Предотвращение внеплановых остановок.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8163" y="2993231"/>
            <a:ext cx="3362325" cy="838200"/>
          </a:xfrm>
          <a:custGeom>
            <a:avLst/>
            <a:gdLst/>
            <a:ahLst/>
            <a:cxnLst/>
            <a:rect l="l" t="t" r="r" b="b"/>
            <a:pathLst>
              <a:path w="3362325" h="838200">
                <a:moveTo>
                  <a:pt x="41910" y="0"/>
                </a:moveTo>
                <a:lnTo>
                  <a:pt x="3278505" y="0"/>
                </a:lnTo>
                <a:cubicBezTo>
                  <a:pt x="3324798" y="0"/>
                  <a:pt x="3362325" y="37527"/>
                  <a:pt x="3362325" y="83820"/>
                </a:cubicBezTo>
                <a:lnTo>
                  <a:pt x="3362325" y="754380"/>
                </a:lnTo>
                <a:cubicBezTo>
                  <a:pt x="3362325" y="800673"/>
                  <a:pt x="3324798" y="838200"/>
                  <a:pt x="3278505" y="838200"/>
                </a:cubicBezTo>
                <a:lnTo>
                  <a:pt x="41910" y="838200"/>
                </a:lnTo>
                <a:cubicBezTo>
                  <a:pt x="18764" y="838200"/>
                  <a:pt x="0" y="819436"/>
                  <a:pt x="0" y="796290"/>
                </a:cubicBezTo>
                <a:lnTo>
                  <a:pt x="0" y="41910"/>
                </a:lnTo>
                <a:cubicBezTo>
                  <a:pt x="0" y="18779"/>
                  <a:pt x="18779" y="0"/>
                  <a:pt x="41910" y="0"/>
                </a:cubicBezTo>
                <a:close/>
              </a:path>
            </a:pathLst>
          </a:custGeom>
          <a:solidFill>
            <a:srgbClr val="06B6D4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8163" y="2993231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671513" y="3107531"/>
            <a:ext cx="3257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6B6D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&gt;1950 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1513" y="3488531"/>
            <a:ext cx="3171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простоя избежано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8163" y="3933031"/>
            <a:ext cx="3362325" cy="952500"/>
          </a:xfrm>
          <a:custGeom>
            <a:avLst/>
            <a:gdLst/>
            <a:ahLst/>
            <a:cxnLst/>
            <a:rect l="l" t="t" r="r" b="b"/>
            <a:pathLst>
              <a:path w="3362325" h="952500">
                <a:moveTo>
                  <a:pt x="47625" y="0"/>
                </a:moveTo>
                <a:lnTo>
                  <a:pt x="3267075" y="0"/>
                </a:lnTo>
                <a:cubicBezTo>
                  <a:pt x="3319645" y="0"/>
                  <a:pt x="3362325" y="42680"/>
                  <a:pt x="3362325" y="95250"/>
                </a:cubicBezTo>
                <a:lnTo>
                  <a:pt x="3362325" y="857250"/>
                </a:lnTo>
                <a:cubicBezTo>
                  <a:pt x="3362325" y="909820"/>
                  <a:pt x="3319645" y="952500"/>
                  <a:pt x="3267075" y="952500"/>
                </a:cubicBezTo>
                <a:lnTo>
                  <a:pt x="47625" y="952500"/>
                </a:lnTo>
                <a:cubicBezTo>
                  <a:pt x="21340" y="952500"/>
                  <a:pt x="0" y="931160"/>
                  <a:pt x="0" y="90487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06B6D4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38163" y="3933031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671513" y="4047331"/>
            <a:ext cx="3257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6B6D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53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1513" y="4428331"/>
            <a:ext cx="3171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остановок процесса предотвращено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6513" y="1109663"/>
            <a:ext cx="3695700" cy="4476750"/>
          </a:xfrm>
          <a:prstGeom prst="roundRect">
            <a:avLst>
              <a:gd name="adj" fmla="val 2062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03675" y="126682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37025" y="1400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7391" y="-11906"/>
                </a:moveTo>
                <a:cubicBezTo>
                  <a:pt x="87247" y="-11906"/>
                  <a:pt x="95250" y="-3904"/>
                  <a:pt x="95250" y="5953"/>
                </a:cubicBezTo>
                <a:cubicBezTo>
                  <a:pt x="95250" y="15810"/>
                  <a:pt x="87247" y="23812"/>
                  <a:pt x="77391" y="23812"/>
                </a:cubicBezTo>
                <a:cubicBezTo>
                  <a:pt x="67534" y="23812"/>
                  <a:pt x="59531" y="15810"/>
                  <a:pt x="59531" y="5953"/>
                </a:cubicBezTo>
                <a:cubicBezTo>
                  <a:pt x="59531" y="-3904"/>
                  <a:pt x="67534" y="-11906"/>
                  <a:pt x="77391" y="-11906"/>
                </a:cubicBezTo>
                <a:close/>
                <a:moveTo>
                  <a:pt x="119063" y="35719"/>
                </a:moveTo>
                <a:cubicBezTo>
                  <a:pt x="132205" y="35719"/>
                  <a:pt x="142875" y="46389"/>
                  <a:pt x="142875" y="59531"/>
                </a:cubicBezTo>
                <a:cubicBezTo>
                  <a:pt x="142875" y="72674"/>
                  <a:pt x="132205" y="83344"/>
                  <a:pt x="119063" y="83344"/>
                </a:cubicBezTo>
                <a:cubicBezTo>
                  <a:pt x="105920" y="83344"/>
                  <a:pt x="95250" y="72674"/>
                  <a:pt x="95250" y="59531"/>
                </a:cubicBezTo>
                <a:cubicBezTo>
                  <a:pt x="95250" y="46389"/>
                  <a:pt x="105920" y="35719"/>
                  <a:pt x="119063" y="35719"/>
                </a:cubicBezTo>
                <a:close/>
                <a:moveTo>
                  <a:pt x="130969" y="0"/>
                </a:moveTo>
                <a:cubicBezTo>
                  <a:pt x="130969" y="-6571"/>
                  <a:pt x="136304" y="-11906"/>
                  <a:pt x="142875" y="-11906"/>
                </a:cubicBezTo>
                <a:cubicBezTo>
                  <a:pt x="149446" y="-11906"/>
                  <a:pt x="154781" y="-6571"/>
                  <a:pt x="154781" y="0"/>
                </a:cubicBezTo>
                <a:cubicBezTo>
                  <a:pt x="154781" y="6571"/>
                  <a:pt x="149446" y="11906"/>
                  <a:pt x="142875" y="11906"/>
                </a:cubicBezTo>
                <a:cubicBezTo>
                  <a:pt x="136304" y="11906"/>
                  <a:pt x="130969" y="6571"/>
                  <a:pt x="130969" y="0"/>
                </a:cubicBezTo>
                <a:close/>
                <a:moveTo>
                  <a:pt x="35719" y="59531"/>
                </a:moveTo>
                <a:lnTo>
                  <a:pt x="77391" y="59531"/>
                </a:lnTo>
                <a:cubicBezTo>
                  <a:pt x="77391" y="68387"/>
                  <a:pt x="80144" y="76609"/>
                  <a:pt x="84869" y="83344"/>
                </a:cubicBezTo>
                <a:lnTo>
                  <a:pt x="59531" y="83344"/>
                </a:lnTo>
                <a:cubicBezTo>
                  <a:pt x="39812" y="83344"/>
                  <a:pt x="23812" y="99343"/>
                  <a:pt x="23812" y="119063"/>
                </a:cubicBezTo>
                <a:cubicBezTo>
                  <a:pt x="23812" y="138782"/>
                  <a:pt x="39812" y="154781"/>
                  <a:pt x="59531" y="154781"/>
                </a:cubicBezTo>
                <a:lnTo>
                  <a:pt x="130969" y="154781"/>
                </a:lnTo>
                <a:cubicBezTo>
                  <a:pt x="150688" y="154781"/>
                  <a:pt x="166688" y="138782"/>
                  <a:pt x="166688" y="119063"/>
                </a:cubicBezTo>
                <a:cubicBezTo>
                  <a:pt x="166688" y="106003"/>
                  <a:pt x="159655" y="94543"/>
                  <a:pt x="149200" y="88329"/>
                </a:cubicBezTo>
                <a:cubicBezTo>
                  <a:pt x="156270" y="80962"/>
                  <a:pt x="160623" y="70991"/>
                  <a:pt x="160734" y="60015"/>
                </a:cubicBezTo>
                <a:cubicBezTo>
                  <a:pt x="177626" y="62843"/>
                  <a:pt x="190500" y="77539"/>
                  <a:pt x="190500" y="95250"/>
                </a:cubicBezTo>
                <a:lnTo>
                  <a:pt x="190500" y="142875"/>
                </a:lnTo>
                <a:cubicBezTo>
                  <a:pt x="190500" y="162595"/>
                  <a:pt x="174501" y="178594"/>
                  <a:pt x="154781" y="178594"/>
                </a:cubicBezTo>
                <a:lnTo>
                  <a:pt x="35719" y="178594"/>
                </a:lnTo>
                <a:cubicBezTo>
                  <a:pt x="15999" y="178594"/>
                  <a:pt x="0" y="162595"/>
                  <a:pt x="0" y="142875"/>
                </a:cubicBezTo>
                <a:lnTo>
                  <a:pt x="0" y="95250"/>
                </a:lnTo>
                <a:cubicBezTo>
                  <a:pt x="0" y="75530"/>
                  <a:pt x="15999" y="59531"/>
                  <a:pt x="35719" y="59531"/>
                </a:cubicBezTo>
                <a:close/>
                <a:moveTo>
                  <a:pt x="59531" y="101203"/>
                </a:moveTo>
                <a:lnTo>
                  <a:pt x="130969" y="101203"/>
                </a:lnTo>
                <a:cubicBezTo>
                  <a:pt x="140829" y="101203"/>
                  <a:pt x="148828" y="109203"/>
                  <a:pt x="148828" y="119063"/>
                </a:cubicBezTo>
                <a:cubicBezTo>
                  <a:pt x="148828" y="128922"/>
                  <a:pt x="140829" y="136922"/>
                  <a:pt x="130969" y="136922"/>
                </a:cubicBezTo>
                <a:lnTo>
                  <a:pt x="59531" y="136922"/>
                </a:lnTo>
                <a:cubicBezTo>
                  <a:pt x="49671" y="136922"/>
                  <a:pt x="41672" y="128922"/>
                  <a:pt x="41672" y="119063"/>
                </a:cubicBezTo>
                <a:cubicBezTo>
                  <a:pt x="41672" y="109203"/>
                  <a:pt x="49671" y="101203"/>
                  <a:pt x="59531" y="10120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9142" y="1381125"/>
            <a:ext cx="1351340" cy="34290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29037" y="1381125"/>
            <a:ext cx="9715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FMCG / Китай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03675" y="1838325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Unilever Хэфэй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03675" y="2181225"/>
            <a:ext cx="34480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OEE, digital twin, predictive maintenance. Комплексная цифровизация завода.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22725" y="2993231"/>
            <a:ext cx="3362325" cy="762000"/>
          </a:xfrm>
          <a:custGeom>
            <a:avLst/>
            <a:gdLst/>
            <a:ahLst/>
            <a:cxnLst/>
            <a:rect l="l" t="t" r="r" b="b"/>
            <a:pathLst>
              <a:path w="3362325" h="762000">
                <a:moveTo>
                  <a:pt x="38100" y="0"/>
                </a:moveTo>
                <a:lnTo>
                  <a:pt x="3286125" y="0"/>
                </a:lnTo>
                <a:cubicBezTo>
                  <a:pt x="3328181" y="0"/>
                  <a:pt x="3362325" y="34144"/>
                  <a:pt x="3362325" y="76200"/>
                </a:cubicBezTo>
                <a:lnTo>
                  <a:pt x="3362325" y="685800"/>
                </a:lnTo>
                <a:cubicBezTo>
                  <a:pt x="3362325" y="727856"/>
                  <a:pt x="3328181" y="762000"/>
                  <a:pt x="32861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422725" y="2993231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556075" y="3107531"/>
            <a:ext cx="3257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+8 п.п.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56075" y="3488531"/>
            <a:ext cx="3171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OEE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22725" y="3831431"/>
            <a:ext cx="3362325" cy="762000"/>
          </a:xfrm>
          <a:custGeom>
            <a:avLst/>
            <a:gdLst/>
            <a:ahLst/>
            <a:cxnLst/>
            <a:rect l="l" t="t" r="r" b="b"/>
            <a:pathLst>
              <a:path w="3362325" h="762000">
                <a:moveTo>
                  <a:pt x="38100" y="0"/>
                </a:moveTo>
                <a:lnTo>
                  <a:pt x="3286125" y="0"/>
                </a:lnTo>
                <a:cubicBezTo>
                  <a:pt x="3328181" y="0"/>
                  <a:pt x="3362325" y="34144"/>
                  <a:pt x="3362325" y="76200"/>
                </a:cubicBezTo>
                <a:lnTo>
                  <a:pt x="3362325" y="685800"/>
                </a:lnTo>
                <a:cubicBezTo>
                  <a:pt x="3362325" y="727856"/>
                  <a:pt x="3328181" y="762000"/>
                  <a:pt x="32861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22725" y="3831431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556075" y="3945731"/>
            <a:ext cx="3257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−15%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56075" y="4326731"/>
            <a:ext cx="3171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цикл партии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22725" y="4669631"/>
            <a:ext cx="3362325" cy="762000"/>
          </a:xfrm>
          <a:custGeom>
            <a:avLst/>
            <a:gdLst/>
            <a:ahLst/>
            <a:cxnLst/>
            <a:rect l="l" t="t" r="r" b="b"/>
            <a:pathLst>
              <a:path w="3362325" h="762000">
                <a:moveTo>
                  <a:pt x="38100" y="0"/>
                </a:moveTo>
                <a:lnTo>
                  <a:pt x="3286125" y="0"/>
                </a:lnTo>
                <a:cubicBezTo>
                  <a:pt x="3328181" y="0"/>
                  <a:pt x="3362325" y="34144"/>
                  <a:pt x="3362325" y="76200"/>
                </a:cubicBezTo>
                <a:lnTo>
                  <a:pt x="3362325" y="685800"/>
                </a:lnTo>
                <a:cubicBezTo>
                  <a:pt x="3362325" y="727856"/>
                  <a:pt x="3328181" y="762000"/>
                  <a:pt x="32861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22725" y="4669631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556075" y="4783931"/>
            <a:ext cx="3257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−20%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56075" y="5164931"/>
            <a:ext cx="3171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отходы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07338" y="1109663"/>
            <a:ext cx="3695700" cy="4476750"/>
          </a:xfrm>
          <a:prstGeom prst="roundRect">
            <a:avLst>
              <a:gd name="adj" fmla="val 2062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64500" y="126682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397850" y="1400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121875" y="1381125"/>
            <a:ext cx="1528018" cy="342900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179869" y="1406525"/>
            <a:ext cx="14192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Полупроводники / TW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64500" y="1838325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TSMC Intelligent Packaging Fab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64500" y="2181225"/>
            <a:ext cx="3448050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Yield defense, ADC, ML. Архитектура интеллектуальной фабрики для продвинутой упаковки чипов.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64500" y="3107531"/>
            <a:ext cx="3362325" cy="1282700"/>
          </a:xfrm>
          <a:custGeom>
            <a:avLst/>
            <a:gdLst/>
            <a:ahLst/>
            <a:cxnLst/>
            <a:rect l="l" t="t" r="r" b="b"/>
            <a:pathLst>
              <a:path w="3362325" h="1282700">
                <a:moveTo>
                  <a:pt x="47498" y="0"/>
                </a:moveTo>
                <a:lnTo>
                  <a:pt x="3267329" y="0"/>
                </a:lnTo>
                <a:cubicBezTo>
                  <a:pt x="3319794" y="0"/>
                  <a:pt x="3362325" y="42531"/>
                  <a:pt x="3362325" y="94996"/>
                </a:cubicBezTo>
                <a:lnTo>
                  <a:pt x="3362325" y="1187704"/>
                </a:lnTo>
                <a:cubicBezTo>
                  <a:pt x="3362325" y="1240169"/>
                  <a:pt x="3319794" y="1282700"/>
                  <a:pt x="3267329" y="1282700"/>
                </a:cubicBezTo>
                <a:lnTo>
                  <a:pt x="47498" y="1282700"/>
                </a:lnTo>
                <a:cubicBezTo>
                  <a:pt x="21266" y="1282700"/>
                  <a:pt x="0" y="1261434"/>
                  <a:pt x="0" y="1235202"/>
                </a:cubicBezTo>
                <a:lnTo>
                  <a:pt x="0" y="47498"/>
                </a:lnTo>
                <a:cubicBezTo>
                  <a:pt x="0" y="21283"/>
                  <a:pt x="21283" y="0"/>
                  <a:pt x="47498" y="0"/>
                </a:cubicBezTo>
                <a:close/>
              </a:path>
            </a:pathLst>
          </a:custGeom>
          <a:solidFill>
            <a:srgbClr val="06B6D4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64500" y="3107531"/>
            <a:ext cx="38100" cy="1282700"/>
          </a:xfrm>
          <a:custGeom>
            <a:avLst/>
            <a:gdLst/>
            <a:ahLst/>
            <a:cxnLst/>
            <a:rect l="l" t="t" r="r" b="b"/>
            <a:pathLst>
              <a:path w="38100" h="1282700">
                <a:moveTo>
                  <a:pt x="38100" y="0"/>
                </a:moveTo>
                <a:lnTo>
                  <a:pt x="38100" y="0"/>
                </a:lnTo>
                <a:lnTo>
                  <a:pt x="38100" y="1282700"/>
                </a:lnTo>
                <a:lnTo>
                  <a:pt x="38100" y="1282700"/>
                </a:lnTo>
                <a:cubicBezTo>
                  <a:pt x="17072" y="1282700"/>
                  <a:pt x="0" y="1265628"/>
                  <a:pt x="0" y="124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7" name="Text 45"/>
          <p:cNvSpPr/>
          <p:nvPr/>
        </p:nvSpPr>
        <p:spPr>
          <a:xfrm>
            <a:off x="8397850" y="3221831"/>
            <a:ext cx="3181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Архитектурный эталон: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19281" y="350758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9" name="Text 47"/>
          <p:cNvSpPr/>
          <p:nvPr/>
        </p:nvSpPr>
        <p:spPr>
          <a:xfrm>
            <a:off x="8616925" y="3488531"/>
            <a:ext cx="1504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MES/APC/ADC интеграция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19281" y="369808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1" name="Text 49"/>
          <p:cNvSpPr/>
          <p:nvPr/>
        </p:nvSpPr>
        <p:spPr>
          <a:xfrm>
            <a:off x="8616925" y="3679031"/>
            <a:ext cx="1400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для yield optimization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19281" y="388858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8616925" y="3869531"/>
            <a:ext cx="1514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Публичные метрики редки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85763" y="5750719"/>
            <a:ext cx="11420475" cy="723900"/>
          </a:xfrm>
          <a:prstGeom prst="roundRect">
            <a:avLst>
              <a:gd name="adj" fmla="val 10526"/>
            </a:avLst>
          </a:prstGeom>
          <a:solidFill>
            <a:srgbClr val="06B6D4">
              <a:alpha val="10196"/>
            </a:srgbClr>
          </a:solidFill>
          <a:ln w="1270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2450" y="590788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6" name="Text 54"/>
          <p:cNvSpPr/>
          <p:nvPr/>
        </p:nvSpPr>
        <p:spPr>
          <a:xfrm>
            <a:off x="857250" y="5869781"/>
            <a:ext cx="1077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Ключевые выводы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57250" y="6136481"/>
            <a:ext cx="107632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PdM хорошо измеряется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часами простоя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но требует сенсоров и культуры CMMS. Цифровые двойники дают комплексный эффект на всю линию — от OEE до отходов.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fa80aaec7002443614605bde35eee51de9de9e33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1444" r="1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F172A">
                  <a:alpha val="98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F172A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90525" y="1157288"/>
            <a:ext cx="742950" cy="742950"/>
          </a:xfrm>
          <a:prstGeom prst="roundRect">
            <a:avLst>
              <a:gd name="adj" fmla="val 20513"/>
            </a:avLst>
          </a:prstGeom>
          <a:solidFill>
            <a:srgbClr val="F59E0B">
              <a:alpha val="20000"/>
            </a:srgbClr>
          </a:solidFill>
          <a:ln w="254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9668" y="1338263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223963"/>
            <a:ext cx="38100" cy="6096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214563"/>
            <a:ext cx="760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Интеллектуальная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автоматизация и </a:t>
            </a:r>
            <a:pPr>
              <a:lnSpc>
                <a:spcPct val="100000"/>
              </a:lnSpc>
            </a:pPr>
            <a:r>
              <a:rPr lang="en-US" sz="450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GenAI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871913"/>
            <a:ext cx="74295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Применение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генеративного ИИ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 интеллектуальных систем для инженерной поддержки, аналитики простоев и технической документации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4625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443538"/>
            <a:ext cx="56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GenAI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483593" y="546258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1883643" y="5443538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PLC Engineering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38823" y="546258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3824585" y="5443538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 Video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Сценарий: GenAI / Automation / RAG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GenAI на производстве: от PLC до мультимодального RAG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09663"/>
            <a:ext cx="6753225" cy="1604963"/>
          </a:xfrm>
          <a:prstGeom prst="roundRect">
            <a:avLst>
              <a:gd name="adj" fmla="val 6667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4825" y="12287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0075" y="13430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00125" y="1228725"/>
            <a:ext cx="331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Schaeffler + Siemens Industrial Copilot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73703" y="1247775"/>
            <a:ext cx="1552026" cy="36195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574754" y="1135063"/>
            <a:ext cx="1438275" cy="5080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Машиностроение / 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0125" y="1495425"/>
            <a:ext cx="487477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GenAI для программирования PLC и технической поддержки OT-инженеров.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9175" y="2097881"/>
            <a:ext cx="6000750" cy="432594"/>
          </a:xfrm>
          <a:custGeom>
            <a:avLst/>
            <a:gdLst/>
            <a:ahLst/>
            <a:cxnLst/>
            <a:rect l="l" t="t" r="r" b="b"/>
            <a:pathLst>
              <a:path w="6000750" h="432594">
                <a:moveTo>
                  <a:pt x="48006" y="0"/>
                </a:moveTo>
                <a:lnTo>
                  <a:pt x="5904611" y="0"/>
                </a:lnTo>
                <a:cubicBezTo>
                  <a:pt x="5957707" y="0"/>
                  <a:pt x="6000750" y="43043"/>
                  <a:pt x="6000750" y="96139"/>
                </a:cubicBezTo>
                <a:lnTo>
                  <a:pt x="6000750" y="336423"/>
                </a:lnTo>
                <a:cubicBezTo>
                  <a:pt x="6000750" y="389519"/>
                  <a:pt x="5957707" y="432562"/>
                  <a:pt x="5904611" y="432562"/>
                </a:cubicBezTo>
                <a:lnTo>
                  <a:pt x="48006" y="432562"/>
                </a:lnTo>
                <a:cubicBezTo>
                  <a:pt x="21493" y="432562"/>
                  <a:pt x="0" y="411069"/>
                  <a:pt x="0" y="384556"/>
                </a:cubicBezTo>
                <a:lnTo>
                  <a:pt x="0" y="48006"/>
                </a:lnTo>
                <a:cubicBezTo>
                  <a:pt x="0" y="21511"/>
                  <a:pt x="21511" y="0"/>
                  <a:pt x="48006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00125" y="2097881"/>
            <a:ext cx="38100" cy="432594"/>
          </a:xfrm>
          <a:custGeom>
            <a:avLst/>
            <a:gdLst/>
            <a:ahLst/>
            <a:cxnLst/>
            <a:rect l="l" t="t" r="r" b="b"/>
            <a:pathLst>
              <a:path w="38100" h="432594">
                <a:moveTo>
                  <a:pt x="38100" y="0"/>
                </a:moveTo>
                <a:lnTo>
                  <a:pt x="38100" y="0"/>
                </a:lnTo>
                <a:lnTo>
                  <a:pt x="38100" y="432562"/>
                </a:lnTo>
                <a:lnTo>
                  <a:pt x="0" y="432562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129754" y="2123678"/>
            <a:ext cx="589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Вывод: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GenAI ближе к инженерии автоматизации, чем к «магии цеха» без PLC-контекста.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2848769"/>
            <a:ext cx="6753225" cy="1587499"/>
          </a:xfrm>
          <a:prstGeom prst="roundRect">
            <a:avLst>
              <a:gd name="adj" fmla="val 6061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4825" y="2967831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19125" y="30821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0125" y="2967831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Rockwell FactoryTalk Metrics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73703" y="2986881"/>
            <a:ext cx="1548156" cy="361950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758557" y="2993231"/>
            <a:ext cx="1047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Косметика / 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0125" y="3272631"/>
            <a:ext cx="447357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Downtime analytics. Классика + основа для ML: начинать с телеметрии и классификации простоя.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0125" y="3715544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6B6D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−90%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80021" y="3772694"/>
            <a:ext cx="1009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время старт/стоп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45928" y="3715544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6B6D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+15-20%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08883" y="3772694"/>
            <a:ext cx="419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uptime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89300" y="3715544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6B6D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$100k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68825" y="3772694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/год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763" y="4640738"/>
            <a:ext cx="3314700" cy="1837850"/>
          </a:xfrm>
          <a:prstGeom prst="roundRect">
            <a:avLst>
              <a:gd name="adj" fmla="val 625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075" y="4872831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Nestlé + Axis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343187" y="4872831"/>
            <a:ext cx="1091282" cy="328613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412578" y="4733131"/>
            <a:ext cx="952500" cy="5080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Пищевое / FR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0075" y="5289788"/>
            <a:ext cx="2933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Процессное видео, ATEX. 22 sites, 600 cams.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3875" y="5664994"/>
            <a:ext cx="3057525" cy="647700"/>
          </a:xfrm>
          <a:custGeom>
            <a:avLst/>
            <a:gdLst/>
            <a:ahLst/>
            <a:cxnLst/>
            <a:rect l="l" t="t" r="r" b="b"/>
            <a:pathLst>
              <a:path w="3057525" h="647700">
                <a:moveTo>
                  <a:pt x="53975" y="0"/>
                </a:moveTo>
                <a:lnTo>
                  <a:pt x="2949575" y="0"/>
                </a:lnTo>
                <a:cubicBezTo>
                  <a:pt x="3009154" y="0"/>
                  <a:pt x="3057525" y="48371"/>
                  <a:pt x="3057525" y="107950"/>
                </a:cubicBezTo>
                <a:lnTo>
                  <a:pt x="3057525" y="539750"/>
                </a:lnTo>
                <a:cubicBezTo>
                  <a:pt x="3057525" y="599329"/>
                  <a:pt x="3009154" y="647700"/>
                  <a:pt x="2949575" y="647700"/>
                </a:cubicBezTo>
                <a:lnTo>
                  <a:pt x="53975" y="647700"/>
                </a:lnTo>
                <a:cubicBezTo>
                  <a:pt x="24185" y="647700"/>
                  <a:pt x="0" y="623515"/>
                  <a:pt x="0" y="593725"/>
                </a:cubicBezTo>
                <a:lnTo>
                  <a:pt x="0" y="53975"/>
                </a:lnTo>
                <a:cubicBezTo>
                  <a:pt x="0" y="24185"/>
                  <a:pt x="24185" y="0"/>
                  <a:pt x="53975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04825" y="5664994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95325" y="5807472"/>
            <a:ext cx="27391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Вывод: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Видео как инструмент RCA масштабируется проще, чем «полный AI».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26148" y="4640738"/>
            <a:ext cx="3314700" cy="1837850"/>
          </a:xfrm>
          <a:prstGeom prst="roundRect">
            <a:avLst>
              <a:gd name="adj" fmla="val 6250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19550" y="4872831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Hyundai Staria RAG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44604" y="4872831"/>
            <a:ext cx="1381125" cy="328612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644604" y="4733131"/>
            <a:ext cx="1343025" cy="5080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Авто / Peer-reviewed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019550" y="5317331"/>
            <a:ext cx="30061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Мультимодальный RAG + LoRA для технических мануалов.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043363" y="5855494"/>
            <a:ext cx="56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6B6D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+18 п.п.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94547" y="5912644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ROUGE-L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04708" y="1109663"/>
            <a:ext cx="4505325" cy="3349626"/>
          </a:xfrm>
          <a:prstGeom prst="roundRect">
            <a:avLst>
              <a:gd name="adj" fmla="val 191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85683" y="13144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7680945" y="1266825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Архитектура данных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61870" y="1647825"/>
            <a:ext cx="4191000" cy="495300"/>
          </a:xfrm>
          <a:prstGeom prst="roundRect">
            <a:avLst>
              <a:gd name="adj" fmla="val 15385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38070" y="17430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634511" y="1828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7957170" y="1724025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 Layer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957170" y="1914525"/>
            <a:ext cx="1019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PLC, SCADA, MES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61870" y="2219325"/>
            <a:ext cx="4191000" cy="495300"/>
          </a:xfrm>
          <a:prstGeom prst="roundRect">
            <a:avLst>
              <a:gd name="adj" fmla="val 15385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538070" y="23145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634511" y="2400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7957170" y="2295525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Lake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957170" y="2486025"/>
            <a:ext cx="1095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 series, Images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461870" y="2790825"/>
            <a:ext cx="4191000" cy="495300"/>
          </a:xfrm>
          <a:prstGeom prst="roundRect">
            <a:avLst>
              <a:gd name="adj" fmla="val 15385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38070" y="28860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26176" y="2971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7957170" y="2867025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/ GenAI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957170" y="3057525"/>
            <a:ext cx="809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PdM, CV, RAG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461870" y="3362325"/>
            <a:ext cx="4191000" cy="495300"/>
          </a:xfrm>
          <a:prstGeom prst="roundRect">
            <a:avLst>
              <a:gd name="adj" fmla="val 15385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538070" y="34575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626176" y="35433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63" name="Text 61"/>
          <p:cNvSpPr/>
          <p:nvPr/>
        </p:nvSpPr>
        <p:spPr>
          <a:xfrm>
            <a:off x="7957170" y="3438525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957170" y="3629025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OEE, Downtime, KPI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304708" y="4640738"/>
            <a:ext cx="4505325" cy="1829118"/>
          </a:xfrm>
          <a:prstGeom prst="roundRect">
            <a:avLst>
              <a:gd name="adj" fmla="val 6015"/>
            </a:avLst>
          </a:pr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80920" y="496649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7751192" y="4872831"/>
            <a:ext cx="39826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Типовая ошибка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657133" y="5241131"/>
            <a:ext cx="3770313" cy="754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60% компаний не генерируют материальной выгоды от AI (BCG, 2025). Узкое место —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интеграция OT/IT и владение проблемой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а не алгоритмы.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79fe48e7c5395c06e23ca2baf586bb6da57eb5b5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549" b="54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F172A">
                  <a:alpha val="98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F172A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90525" y="1343025"/>
            <a:ext cx="742950" cy="742950"/>
          </a:xfrm>
          <a:prstGeom prst="roundRect">
            <a:avLst>
              <a:gd name="adj" fmla="val 20513"/>
            </a:avLst>
          </a:prstGeom>
          <a:solidFill>
            <a:srgbClr val="06B6D4">
              <a:alpha val="20000"/>
            </a:srgbClr>
          </a:solidFill>
          <a:ln w="254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9668" y="152400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409700"/>
            <a:ext cx="38100" cy="609600"/>
          </a:xfrm>
          <a:prstGeom prst="roundRect">
            <a:avLst>
              <a:gd name="adj" fmla="val 0"/>
            </a:avLst>
          </a:prstGeom>
          <a:solidFill>
            <a:srgbClr val="06B6D4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400300"/>
            <a:ext cx="760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Планирование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и </a:t>
            </a:r>
            <a:pPr>
              <a:lnSpc>
                <a:spcPct val="100000"/>
              </a:lnSpc>
            </a:pPr>
            <a:r>
              <a:rPr lang="en-US" sz="4500" b="1" dirty="0">
                <a:solidFill>
                  <a:srgbClr val="06B6D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оптимизация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05765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ML-прогнозирование спроса,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оптимизация рецептур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 интеграция данных для принятия решений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5288" y="52768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257800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Demand Forecast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433712" y="5276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2805187" y="5257800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 ML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54574" y="52768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4" name="Text 11"/>
          <p:cNvSpPr/>
          <p:nvPr/>
        </p:nvSpPr>
        <p:spPr>
          <a:xfrm>
            <a:off x="4211762" y="5257800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Lake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Сценарий: Planning / R&amp;D / Data Integration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 в планировании и R&amp;D: точность и сокращение циклов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033462"/>
            <a:ext cx="6191250" cy="1066800"/>
          </a:xfrm>
          <a:prstGeom prst="roundRect">
            <a:avLst>
              <a:gd name="adj" fmla="val 7143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4825" y="11525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19125" y="1266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20" y="4286"/>
                </a:moveTo>
                <a:cubicBezTo>
                  <a:pt x="18782" y="1845"/>
                  <a:pt x="16728" y="0"/>
                  <a:pt x="14288" y="0"/>
                </a:cubicBezTo>
                <a:cubicBezTo>
                  <a:pt x="11847" y="0"/>
                  <a:pt x="9793" y="1845"/>
                  <a:pt x="9525" y="4256"/>
                </a:cubicBezTo>
                <a:lnTo>
                  <a:pt x="5328" y="44559"/>
                </a:lnTo>
                <a:cubicBezTo>
                  <a:pt x="4941" y="46345"/>
                  <a:pt x="4763" y="48161"/>
                  <a:pt x="4763" y="49976"/>
                </a:cubicBezTo>
                <a:cubicBezTo>
                  <a:pt x="4763" y="63639"/>
                  <a:pt x="15210" y="74861"/>
                  <a:pt x="28575" y="76081"/>
                </a:cubicBezTo>
                <a:lnTo>
                  <a:pt x="28575" y="142875"/>
                </a:lnTo>
                <a:cubicBezTo>
                  <a:pt x="28575" y="148144"/>
                  <a:pt x="32831" y="152400"/>
                  <a:pt x="38100" y="152400"/>
                </a:cubicBezTo>
                <a:cubicBezTo>
                  <a:pt x="43369" y="152400"/>
                  <a:pt x="47625" y="148144"/>
                  <a:pt x="47625" y="142875"/>
                </a:cubicBezTo>
                <a:lnTo>
                  <a:pt x="47625" y="76081"/>
                </a:lnTo>
                <a:cubicBezTo>
                  <a:pt x="60990" y="74861"/>
                  <a:pt x="71438" y="63639"/>
                  <a:pt x="71438" y="49976"/>
                </a:cubicBezTo>
                <a:cubicBezTo>
                  <a:pt x="71438" y="48161"/>
                  <a:pt x="71259" y="46345"/>
                  <a:pt x="70872" y="44559"/>
                </a:cubicBezTo>
                <a:lnTo>
                  <a:pt x="66645" y="4256"/>
                </a:lnTo>
                <a:cubicBezTo>
                  <a:pt x="66407" y="1845"/>
                  <a:pt x="64353" y="0"/>
                  <a:pt x="61912" y="0"/>
                </a:cubicBezTo>
                <a:cubicBezTo>
                  <a:pt x="59472" y="0"/>
                  <a:pt x="57418" y="1845"/>
                  <a:pt x="57180" y="4286"/>
                </a:cubicBezTo>
                <a:lnTo>
                  <a:pt x="53132" y="44619"/>
                </a:lnTo>
                <a:cubicBezTo>
                  <a:pt x="52953" y="46315"/>
                  <a:pt x="51524" y="47625"/>
                  <a:pt x="49828" y="47625"/>
                </a:cubicBezTo>
                <a:cubicBezTo>
                  <a:pt x="48101" y="47625"/>
                  <a:pt x="46673" y="46315"/>
                  <a:pt x="46494" y="44589"/>
                </a:cubicBezTo>
                <a:lnTo>
                  <a:pt x="42833" y="4346"/>
                </a:lnTo>
                <a:cubicBezTo>
                  <a:pt x="42624" y="1875"/>
                  <a:pt x="40571" y="0"/>
                  <a:pt x="38100" y="0"/>
                </a:cubicBezTo>
                <a:cubicBezTo>
                  <a:pt x="35629" y="0"/>
                  <a:pt x="33576" y="1875"/>
                  <a:pt x="33367" y="4346"/>
                </a:cubicBezTo>
                <a:lnTo>
                  <a:pt x="29706" y="44589"/>
                </a:lnTo>
                <a:cubicBezTo>
                  <a:pt x="29557" y="46315"/>
                  <a:pt x="28099" y="47625"/>
                  <a:pt x="26372" y="47625"/>
                </a:cubicBezTo>
                <a:cubicBezTo>
                  <a:pt x="24646" y="47625"/>
                  <a:pt x="23217" y="46315"/>
                  <a:pt x="23068" y="44619"/>
                </a:cubicBezTo>
                <a:lnTo>
                  <a:pt x="19020" y="4286"/>
                </a:lnTo>
                <a:close/>
                <a:moveTo>
                  <a:pt x="133350" y="0"/>
                </a:moveTo>
                <a:cubicBezTo>
                  <a:pt x="128588" y="0"/>
                  <a:pt x="95250" y="9525"/>
                  <a:pt x="95250" y="52388"/>
                </a:cubicBezTo>
                <a:lnTo>
                  <a:pt x="95250" y="85725"/>
                </a:lnTo>
                <a:cubicBezTo>
                  <a:pt x="95250" y="96232"/>
                  <a:pt x="103793" y="104775"/>
                  <a:pt x="114300" y="104775"/>
                </a:cubicBezTo>
                <a:lnTo>
                  <a:pt x="123825" y="104775"/>
                </a:lnTo>
                <a:lnTo>
                  <a:pt x="123825" y="142875"/>
                </a:lnTo>
                <a:cubicBezTo>
                  <a:pt x="123825" y="148144"/>
                  <a:pt x="128081" y="152400"/>
                  <a:pt x="133350" y="152400"/>
                </a:cubicBezTo>
                <a:cubicBezTo>
                  <a:pt x="138619" y="152400"/>
                  <a:pt x="142875" y="148144"/>
                  <a:pt x="142875" y="142875"/>
                </a:cubicBezTo>
                <a:lnTo>
                  <a:pt x="142875" y="9525"/>
                </a:lnTo>
                <a:cubicBezTo>
                  <a:pt x="142875" y="4256"/>
                  <a:pt x="138619" y="0"/>
                  <a:pt x="13335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000125" y="1152525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Atria + RELEX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07025" y="1171575"/>
            <a:ext cx="857250" cy="228600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07025" y="1171575"/>
            <a:ext cx="9144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Пищевое / FI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0125" y="1457325"/>
            <a:ext cx="552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ML-прогнозирование спроса для планирования производства мясной продукции.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0125" y="1716881"/>
            <a:ext cx="50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6B6D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98.1%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87686" y="1774031"/>
            <a:ext cx="175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точность недельного прогноза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1443" y="1716881"/>
            <a:ext cx="44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6B6D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−13%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64310" y="1774031"/>
            <a:ext cx="866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ручных правок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2226469"/>
            <a:ext cx="6191250" cy="1066800"/>
          </a:xfrm>
          <a:prstGeom prst="roundRect">
            <a:avLst>
              <a:gd name="adj" fmla="val 7143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825" y="2345531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8650" y="245983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5551" y="11787"/>
                </a:moveTo>
                <a:cubicBezTo>
                  <a:pt x="134541" y="25360"/>
                  <a:pt x="135880" y="42535"/>
                  <a:pt x="129510" y="57150"/>
                </a:cubicBezTo>
                <a:lnTo>
                  <a:pt x="80278" y="57150"/>
                </a:lnTo>
                <a:lnTo>
                  <a:pt x="92601" y="44827"/>
                </a:lnTo>
                <a:cubicBezTo>
                  <a:pt x="92839" y="44589"/>
                  <a:pt x="93047" y="44351"/>
                  <a:pt x="93256" y="44113"/>
                </a:cubicBezTo>
                <a:lnTo>
                  <a:pt x="125551" y="11787"/>
                </a:lnTo>
                <a:close/>
                <a:moveTo>
                  <a:pt x="79772" y="30629"/>
                </a:moveTo>
                <a:cubicBezTo>
                  <a:pt x="79534" y="30837"/>
                  <a:pt x="79296" y="31046"/>
                  <a:pt x="79058" y="31284"/>
                </a:cubicBezTo>
                <a:lnTo>
                  <a:pt x="70693" y="39648"/>
                </a:lnTo>
                <a:cubicBezTo>
                  <a:pt x="63252" y="47089"/>
                  <a:pt x="51197" y="47089"/>
                  <a:pt x="43755" y="39648"/>
                </a:cubicBezTo>
                <a:cubicBezTo>
                  <a:pt x="36314" y="32206"/>
                  <a:pt x="36314" y="20151"/>
                  <a:pt x="43755" y="12710"/>
                </a:cubicBezTo>
                <a:lnTo>
                  <a:pt x="52090" y="4346"/>
                </a:lnTo>
                <a:cubicBezTo>
                  <a:pt x="68431" y="-11966"/>
                  <a:pt x="93613" y="-13901"/>
                  <a:pt x="112068" y="-1667"/>
                </a:cubicBezTo>
                <a:lnTo>
                  <a:pt x="79772" y="30629"/>
                </a:lnTo>
                <a:close/>
                <a:moveTo>
                  <a:pt x="37415" y="100013"/>
                </a:moveTo>
                <a:lnTo>
                  <a:pt x="61228" y="76200"/>
                </a:lnTo>
                <a:lnTo>
                  <a:pt x="115104" y="76200"/>
                </a:lnTo>
                <a:lnTo>
                  <a:pt x="90547" y="100757"/>
                </a:lnTo>
                <a:lnTo>
                  <a:pt x="90547" y="100013"/>
                </a:lnTo>
                <a:lnTo>
                  <a:pt x="37415" y="100013"/>
                </a:lnTo>
                <a:close/>
                <a:moveTo>
                  <a:pt x="72241" y="119062"/>
                </a:moveTo>
                <a:lnTo>
                  <a:pt x="42089" y="149215"/>
                </a:lnTo>
                <a:cubicBezTo>
                  <a:pt x="34647" y="156656"/>
                  <a:pt x="22592" y="156656"/>
                  <a:pt x="15151" y="149215"/>
                </a:cubicBezTo>
                <a:cubicBezTo>
                  <a:pt x="7709" y="141774"/>
                  <a:pt x="7709" y="129719"/>
                  <a:pt x="15151" y="122277"/>
                </a:cubicBezTo>
                <a:lnTo>
                  <a:pt x="18336" y="119092"/>
                </a:lnTo>
                <a:lnTo>
                  <a:pt x="72211" y="119092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0125" y="2345531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Perfetti Van Melle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62724" y="2364581"/>
            <a:ext cx="1095375" cy="22860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362724" y="2364581"/>
            <a:ext cx="11525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Confectionery / 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0125" y="2650331"/>
            <a:ext cx="552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 ML для оптимизации рецептур. MLG 2024 paper.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0125" y="2909888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9E0B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150→30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34505" y="2967038"/>
            <a:ext cx="419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тестов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145134" y="2909888"/>
            <a:ext cx="70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9E0B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7→2 мес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32125" y="2967038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3419475"/>
            <a:ext cx="6191250" cy="1104900"/>
          </a:xfrm>
          <a:prstGeom prst="roundRect">
            <a:avLst>
              <a:gd name="adj" fmla="val 6897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4825" y="3538538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8650" y="365283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77420"/>
                </a:lnTo>
                <a:cubicBezTo>
                  <a:pt x="5388" y="73640"/>
                  <a:pt x="11966" y="71438"/>
                  <a:pt x="19050" y="71438"/>
                </a:cubicBezTo>
                <a:lnTo>
                  <a:pt x="114300" y="71438"/>
                </a:lnTo>
                <a:cubicBezTo>
                  <a:pt x="121384" y="71438"/>
                  <a:pt x="127962" y="73640"/>
                  <a:pt x="133350" y="77420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133350" y="104775"/>
                </a:move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lose/>
                <a:moveTo>
                  <a:pt x="66675" y="114300"/>
                </a:moveTo>
                <a:cubicBezTo>
                  <a:pt x="66675" y="109043"/>
                  <a:pt x="70943" y="104775"/>
                  <a:pt x="76200" y="104775"/>
                </a:cubicBezTo>
                <a:cubicBezTo>
                  <a:pt x="81457" y="104775"/>
                  <a:pt x="85725" y="109043"/>
                  <a:pt x="85725" y="114300"/>
                </a:cubicBezTo>
                <a:cubicBezTo>
                  <a:pt x="85725" y="119557"/>
                  <a:pt x="81457" y="123825"/>
                  <a:pt x="76200" y="123825"/>
                </a:cubicBezTo>
                <a:cubicBezTo>
                  <a:pt x="70943" y="123825"/>
                  <a:pt x="66675" y="119557"/>
                  <a:pt x="66675" y="114300"/>
                </a:cubicBezTo>
                <a:close/>
                <a:moveTo>
                  <a:pt x="104775" y="104775"/>
                </a:moveTo>
                <a:cubicBezTo>
                  <a:pt x="110032" y="104775"/>
                  <a:pt x="114300" y="109043"/>
                  <a:pt x="114300" y="114300"/>
                </a:cubicBezTo>
                <a:cubicBezTo>
                  <a:pt x="114300" y="119557"/>
                  <a:pt x="110032" y="123825"/>
                  <a:pt x="104775" y="123825"/>
                </a:cubicBezTo>
                <a:cubicBezTo>
                  <a:pt x="99518" y="123825"/>
                  <a:pt x="95250" y="119557"/>
                  <a:pt x="95250" y="114300"/>
                </a:cubicBezTo>
                <a:cubicBezTo>
                  <a:pt x="95250" y="109043"/>
                  <a:pt x="99518" y="104775"/>
                  <a:pt x="104775" y="10477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1000125" y="3538538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Hitachi Data Lake + CV QA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00402" y="3557588"/>
            <a:ext cx="857250" cy="228600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600402" y="3557588"/>
            <a:ext cx="9144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6B6D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Электроника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0125" y="3843338"/>
            <a:ext cx="5524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lake + IoT + CV QA на одной платформе. Multi-PB sensor DB.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19175" y="4102894"/>
            <a:ext cx="5438775" cy="304800"/>
          </a:xfrm>
          <a:custGeom>
            <a:avLst/>
            <a:gdLst/>
            <a:ahLst/>
            <a:cxnLst/>
            <a:rect l="l" t="t" r="r" b="b"/>
            <a:pathLst>
              <a:path w="5438775" h="304800">
                <a:moveTo>
                  <a:pt x="38100" y="0"/>
                </a:moveTo>
                <a:lnTo>
                  <a:pt x="5362575" y="0"/>
                </a:lnTo>
                <a:cubicBezTo>
                  <a:pt x="5404631" y="0"/>
                  <a:pt x="5438775" y="34144"/>
                  <a:pt x="5438775" y="76200"/>
                </a:cubicBezTo>
                <a:lnTo>
                  <a:pt x="5438775" y="228600"/>
                </a:lnTo>
                <a:cubicBezTo>
                  <a:pt x="5438775" y="270656"/>
                  <a:pt x="5404631" y="304800"/>
                  <a:pt x="536257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19175" y="4102894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3810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1114425" y="4179094"/>
            <a:ext cx="5324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Результат: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CV QA «not possible before» — интеграция данных открыла новые возможности.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40872" y="1033462"/>
            <a:ext cx="5067300" cy="4048125"/>
          </a:xfrm>
          <a:prstGeom prst="roundRect">
            <a:avLst>
              <a:gd name="adj" fmla="val 1882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21847" y="123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2698" y="75009"/>
                </a:moveTo>
                <a:lnTo>
                  <a:pt x="104477" y="75009"/>
                </a:lnTo>
                <a:cubicBezTo>
                  <a:pt x="100024" y="75009"/>
                  <a:pt x="96441" y="71426"/>
                  <a:pt x="96441" y="66973"/>
                </a:cubicBezTo>
                <a:lnTo>
                  <a:pt x="96441" y="18752"/>
                </a:lnTo>
                <a:cubicBezTo>
                  <a:pt x="96441" y="15504"/>
                  <a:pt x="98383" y="12557"/>
                  <a:pt x="101397" y="11318"/>
                </a:cubicBezTo>
                <a:cubicBezTo>
                  <a:pt x="104410" y="10079"/>
                  <a:pt x="107859" y="10783"/>
                  <a:pt x="110170" y="13060"/>
                </a:cubicBezTo>
                <a:lnTo>
                  <a:pt x="123565" y="26454"/>
                </a:lnTo>
                <a:lnTo>
                  <a:pt x="148144" y="1875"/>
                </a:lnTo>
                <a:cubicBezTo>
                  <a:pt x="149349" y="670"/>
                  <a:pt x="150990" y="0"/>
                  <a:pt x="152698" y="0"/>
                </a:cubicBezTo>
                <a:cubicBezTo>
                  <a:pt x="154405" y="0"/>
                  <a:pt x="156046" y="670"/>
                  <a:pt x="157285" y="1909"/>
                </a:cubicBezTo>
                <a:lnTo>
                  <a:pt x="169575" y="14198"/>
                </a:lnTo>
                <a:cubicBezTo>
                  <a:pt x="170780" y="15404"/>
                  <a:pt x="171450" y="17045"/>
                  <a:pt x="171450" y="18752"/>
                </a:cubicBezTo>
                <a:cubicBezTo>
                  <a:pt x="171450" y="20460"/>
                  <a:pt x="170780" y="22101"/>
                  <a:pt x="169541" y="23340"/>
                </a:cubicBezTo>
                <a:lnTo>
                  <a:pt x="144996" y="47885"/>
                </a:lnTo>
                <a:lnTo>
                  <a:pt x="158390" y="61280"/>
                </a:lnTo>
                <a:cubicBezTo>
                  <a:pt x="160701" y="63591"/>
                  <a:pt x="161371" y="67040"/>
                  <a:pt x="160132" y="70053"/>
                </a:cubicBezTo>
                <a:cubicBezTo>
                  <a:pt x="158893" y="73067"/>
                  <a:pt x="155946" y="75009"/>
                  <a:pt x="152698" y="75009"/>
                </a:cubicBezTo>
                <a:close/>
                <a:moveTo>
                  <a:pt x="152698" y="96441"/>
                </a:moveTo>
                <a:cubicBezTo>
                  <a:pt x="155946" y="96441"/>
                  <a:pt x="158893" y="98383"/>
                  <a:pt x="160132" y="101397"/>
                </a:cubicBezTo>
                <a:cubicBezTo>
                  <a:pt x="161371" y="104410"/>
                  <a:pt x="160701" y="107859"/>
                  <a:pt x="158390" y="110170"/>
                </a:cubicBezTo>
                <a:lnTo>
                  <a:pt x="144996" y="123565"/>
                </a:lnTo>
                <a:lnTo>
                  <a:pt x="169575" y="148144"/>
                </a:lnTo>
                <a:cubicBezTo>
                  <a:pt x="170780" y="149349"/>
                  <a:pt x="171483" y="150990"/>
                  <a:pt x="171483" y="152731"/>
                </a:cubicBezTo>
                <a:cubicBezTo>
                  <a:pt x="171483" y="154472"/>
                  <a:pt x="170814" y="156080"/>
                  <a:pt x="169575" y="157319"/>
                </a:cubicBezTo>
                <a:lnTo>
                  <a:pt x="157285" y="169608"/>
                </a:lnTo>
                <a:cubicBezTo>
                  <a:pt x="156046" y="170780"/>
                  <a:pt x="154405" y="171450"/>
                  <a:pt x="152698" y="171450"/>
                </a:cubicBezTo>
                <a:cubicBezTo>
                  <a:pt x="150990" y="171450"/>
                  <a:pt x="149349" y="170780"/>
                  <a:pt x="148110" y="169541"/>
                </a:cubicBezTo>
                <a:lnTo>
                  <a:pt x="123565" y="144996"/>
                </a:lnTo>
                <a:lnTo>
                  <a:pt x="110170" y="158390"/>
                </a:lnTo>
                <a:cubicBezTo>
                  <a:pt x="107859" y="160701"/>
                  <a:pt x="104410" y="161371"/>
                  <a:pt x="101397" y="160132"/>
                </a:cubicBezTo>
                <a:cubicBezTo>
                  <a:pt x="98383" y="158893"/>
                  <a:pt x="96441" y="155946"/>
                  <a:pt x="96441" y="152698"/>
                </a:cubicBezTo>
                <a:lnTo>
                  <a:pt x="96441" y="104477"/>
                </a:lnTo>
                <a:cubicBezTo>
                  <a:pt x="96441" y="100024"/>
                  <a:pt x="100024" y="96441"/>
                  <a:pt x="104477" y="96441"/>
                </a:cubicBezTo>
                <a:lnTo>
                  <a:pt x="152698" y="96441"/>
                </a:lnTo>
                <a:close/>
                <a:moveTo>
                  <a:pt x="66973" y="96441"/>
                </a:moveTo>
                <a:cubicBezTo>
                  <a:pt x="71426" y="96441"/>
                  <a:pt x="75009" y="100024"/>
                  <a:pt x="75009" y="104477"/>
                </a:cubicBezTo>
                <a:lnTo>
                  <a:pt x="75009" y="152698"/>
                </a:lnTo>
                <a:cubicBezTo>
                  <a:pt x="75009" y="155946"/>
                  <a:pt x="73067" y="158893"/>
                  <a:pt x="70053" y="160132"/>
                </a:cubicBezTo>
                <a:cubicBezTo>
                  <a:pt x="67040" y="161371"/>
                  <a:pt x="63591" y="160701"/>
                  <a:pt x="61280" y="158390"/>
                </a:cubicBezTo>
                <a:lnTo>
                  <a:pt x="47885" y="144996"/>
                </a:lnTo>
                <a:lnTo>
                  <a:pt x="23306" y="169575"/>
                </a:lnTo>
                <a:cubicBezTo>
                  <a:pt x="22101" y="170780"/>
                  <a:pt x="20460" y="171450"/>
                  <a:pt x="18752" y="171450"/>
                </a:cubicBezTo>
                <a:cubicBezTo>
                  <a:pt x="17045" y="171450"/>
                  <a:pt x="15404" y="170780"/>
                  <a:pt x="14165" y="169541"/>
                </a:cubicBezTo>
                <a:lnTo>
                  <a:pt x="1909" y="157285"/>
                </a:lnTo>
                <a:cubicBezTo>
                  <a:pt x="670" y="156046"/>
                  <a:pt x="0" y="154405"/>
                  <a:pt x="0" y="152698"/>
                </a:cubicBezTo>
                <a:cubicBezTo>
                  <a:pt x="0" y="150990"/>
                  <a:pt x="670" y="149349"/>
                  <a:pt x="1909" y="148110"/>
                </a:cubicBezTo>
                <a:lnTo>
                  <a:pt x="26454" y="123565"/>
                </a:lnTo>
                <a:lnTo>
                  <a:pt x="13060" y="110170"/>
                </a:lnTo>
                <a:cubicBezTo>
                  <a:pt x="10749" y="107859"/>
                  <a:pt x="10079" y="104410"/>
                  <a:pt x="11318" y="101397"/>
                </a:cubicBezTo>
                <a:cubicBezTo>
                  <a:pt x="12557" y="98383"/>
                  <a:pt x="15504" y="96441"/>
                  <a:pt x="18752" y="96441"/>
                </a:cubicBezTo>
                <a:lnTo>
                  <a:pt x="66973" y="96441"/>
                </a:lnTo>
                <a:close/>
                <a:moveTo>
                  <a:pt x="18752" y="75009"/>
                </a:moveTo>
                <a:cubicBezTo>
                  <a:pt x="15504" y="75009"/>
                  <a:pt x="12557" y="73067"/>
                  <a:pt x="11318" y="70053"/>
                </a:cubicBezTo>
                <a:cubicBezTo>
                  <a:pt x="10079" y="67040"/>
                  <a:pt x="10783" y="63591"/>
                  <a:pt x="13060" y="61280"/>
                </a:cubicBezTo>
                <a:lnTo>
                  <a:pt x="26454" y="47885"/>
                </a:lnTo>
                <a:lnTo>
                  <a:pt x="1909" y="23340"/>
                </a:lnTo>
                <a:cubicBezTo>
                  <a:pt x="670" y="22101"/>
                  <a:pt x="0" y="20460"/>
                  <a:pt x="0" y="18752"/>
                </a:cubicBezTo>
                <a:cubicBezTo>
                  <a:pt x="0" y="17045"/>
                  <a:pt x="670" y="15404"/>
                  <a:pt x="1909" y="14165"/>
                </a:cubicBezTo>
                <a:lnTo>
                  <a:pt x="14165" y="1909"/>
                </a:lnTo>
                <a:cubicBezTo>
                  <a:pt x="15404" y="670"/>
                  <a:pt x="17045" y="0"/>
                  <a:pt x="18752" y="0"/>
                </a:cubicBezTo>
                <a:cubicBezTo>
                  <a:pt x="20460" y="0"/>
                  <a:pt x="22101" y="670"/>
                  <a:pt x="23340" y="1909"/>
                </a:cubicBezTo>
                <a:lnTo>
                  <a:pt x="47885" y="26454"/>
                </a:lnTo>
                <a:lnTo>
                  <a:pt x="61280" y="13060"/>
                </a:lnTo>
                <a:cubicBezTo>
                  <a:pt x="63591" y="10749"/>
                  <a:pt x="67040" y="10079"/>
                  <a:pt x="70053" y="11318"/>
                </a:cubicBezTo>
                <a:cubicBezTo>
                  <a:pt x="73067" y="12557"/>
                  <a:pt x="75009" y="15504"/>
                  <a:pt x="75009" y="18752"/>
                </a:cubicBezTo>
                <a:lnTo>
                  <a:pt x="75009" y="66973"/>
                </a:lnTo>
                <a:cubicBezTo>
                  <a:pt x="75009" y="71426"/>
                  <a:pt x="71426" y="75009"/>
                  <a:pt x="66973" y="75009"/>
                </a:cubicBezTo>
                <a:lnTo>
                  <a:pt x="18752" y="75009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8" name="Text 36"/>
          <p:cNvSpPr/>
          <p:nvPr/>
        </p:nvSpPr>
        <p:spPr>
          <a:xfrm>
            <a:off x="7117110" y="1190625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Сравнение циклов R&amp;D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98035" y="2284809"/>
            <a:ext cx="481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Традиционный подход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98035" y="2513409"/>
            <a:ext cx="4752975" cy="2286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41" name="Shape 39"/>
          <p:cNvSpPr/>
          <p:nvPr/>
        </p:nvSpPr>
        <p:spPr>
          <a:xfrm>
            <a:off x="6898035" y="2513409"/>
            <a:ext cx="4752975" cy="2286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42" name="Text 40"/>
          <p:cNvSpPr/>
          <p:nvPr/>
        </p:nvSpPr>
        <p:spPr>
          <a:xfrm>
            <a:off x="11277972" y="2551509"/>
            <a:ext cx="352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 мес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98035" y="2894409"/>
            <a:ext cx="481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 ML (Perfetti)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898035" y="3123009"/>
            <a:ext cx="4752975" cy="2286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45" name="Shape 43"/>
          <p:cNvSpPr/>
          <p:nvPr/>
        </p:nvSpPr>
        <p:spPr>
          <a:xfrm>
            <a:off x="6898035" y="3123009"/>
            <a:ext cx="1381125" cy="2286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46" name="Text 44"/>
          <p:cNvSpPr/>
          <p:nvPr/>
        </p:nvSpPr>
        <p:spPr>
          <a:xfrm>
            <a:off x="7899648" y="3161109"/>
            <a:ext cx="352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мес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02797" y="3584972"/>
            <a:ext cx="4743450" cy="619125"/>
          </a:xfrm>
          <a:prstGeom prst="roundRect">
            <a:avLst>
              <a:gd name="adj" fmla="val 12308"/>
            </a:avLst>
          </a:prstGeom>
          <a:solidFill>
            <a:srgbClr val="06B6D4">
              <a:alpha val="10196"/>
            </a:srgbClr>
          </a:solidFill>
          <a:ln w="1270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21860" y="3704034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Ускорение: 3.5×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21860" y="3932634"/>
            <a:ext cx="4562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Сокращение с 150 до 30 тестовых итераций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740872" y="5203031"/>
            <a:ext cx="5067300" cy="1266825"/>
          </a:xfrm>
          <a:prstGeom prst="roundRect">
            <a:avLst>
              <a:gd name="adj" fmla="val 6015"/>
            </a:avLst>
          </a:pr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36135" y="539829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7088535" y="5360194"/>
            <a:ext cx="463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Ключевой вывод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98035" y="5664994"/>
            <a:ext cx="48196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в планировании дает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именованные KPI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на недельном горизонте. Графовые нейросети ускоряют R&amp;D в 3-4 раза. Data lake открывает возможности, невозможные при фрагментированных данных.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Аналитические выводы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Что работает и что не работает: 9 ключевых выводов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09663"/>
            <a:ext cx="3724275" cy="1352550"/>
          </a:xfrm>
          <a:prstGeom prst="roundRect">
            <a:avLst>
              <a:gd name="adj" fmla="val 5634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4825" y="12287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06623" y="12477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6645" y="1228725"/>
            <a:ext cx="2018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Начинать с фундамента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4825" y="1609725"/>
            <a:ext cx="35528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Сначала телеметрия и классификация простоя (Rockwell), затем ML. Без данных — нет моделей.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4825" y="2108150"/>
            <a:ext cx="3486150" cy="9525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04825" y="2189113"/>
            <a:ext cx="354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Кейс: Rockwell FactoryTalk Metrics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33863" y="1109663"/>
            <a:ext cx="3724275" cy="1352550"/>
          </a:xfrm>
          <a:prstGeom prst="roundRect">
            <a:avLst>
              <a:gd name="adj" fmla="val 5634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925" y="12287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454723" y="12477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6B6D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33938" y="1228725"/>
            <a:ext cx="2052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PdM измеряется часами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52925" y="1609725"/>
            <a:ext cx="35528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PdM хорошо «продаётся» часами простоя, но нужны сенсоры и культура CMMS.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52925" y="2108150"/>
            <a:ext cx="3486150" cy="9525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4352925" y="2189113"/>
            <a:ext cx="354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Кейс: BlueScope &gt;1950 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81962" y="1109663"/>
            <a:ext cx="3724275" cy="1352550"/>
          </a:xfrm>
          <a:prstGeom prst="roundRect">
            <a:avLst>
              <a:gd name="adj" fmla="val 5634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01025" y="12287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302823" y="12477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51300" y="1228725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CV требует данных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01025" y="1609725"/>
            <a:ext cx="35528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CV на линии требует данных; синтетика и MLOps снижают time-to-deploy в 4-6×.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01025" y="2108150"/>
            <a:ext cx="3486150" cy="9525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8201025" y="2189113"/>
            <a:ext cx="354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Кейс: BMW AIQX + NVIDIA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2584400"/>
            <a:ext cx="3724275" cy="1352550"/>
          </a:xfrm>
          <a:prstGeom prst="roundRect">
            <a:avLst>
              <a:gd name="adj" fmla="val 5634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4825" y="270346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06623" y="2722513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6B6D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6645" y="2703463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GenAI = инженерия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4825" y="3084463"/>
            <a:ext cx="35528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GenAI ближе к инженерии автоматизации, чем к «магии цеха» без PLC-контекста.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4825" y="3582963"/>
            <a:ext cx="3486150" cy="9525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/>
        </p:spPr>
      </p:sp>
      <p:sp>
        <p:nvSpPr>
          <p:cNvPr id="31" name="Text 29"/>
          <p:cNvSpPr/>
          <p:nvPr/>
        </p:nvSpPr>
        <p:spPr>
          <a:xfrm>
            <a:off x="504825" y="3663925"/>
            <a:ext cx="354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Кейс: Schaeffler + Siemens Copilot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33863" y="2584400"/>
            <a:ext cx="3724275" cy="1352550"/>
          </a:xfrm>
          <a:prstGeom prst="roundRect">
            <a:avLst>
              <a:gd name="adj" fmla="val 5634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52925" y="270346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454723" y="2722513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33938" y="2703463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Vendor stories — гипотеза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52925" y="3084463"/>
            <a:ext cx="35528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Кейсы с OEM без имени (Huawei) — только как гипотеза эффекта, не как доказательство.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52925" y="3582963"/>
            <a:ext cx="3486150" cy="9525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/>
        </p:spPr>
      </p:sp>
      <p:sp>
        <p:nvSpPr>
          <p:cNvPr id="38" name="Text 36"/>
          <p:cNvSpPr/>
          <p:nvPr/>
        </p:nvSpPr>
        <p:spPr>
          <a:xfrm>
            <a:off x="4352925" y="3663925"/>
            <a:ext cx="354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Риск: анонимные метрики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81962" y="2584400"/>
            <a:ext cx="3724275" cy="1352550"/>
          </a:xfrm>
          <a:prstGeom prst="roundRect">
            <a:avLst>
              <a:gd name="adj" fmla="val 5634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01025" y="270346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302823" y="2722513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6B6D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51300" y="2703463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Фабрики = эталон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01025" y="3084463"/>
            <a:ext cx="35528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Фабрики полупроводников задают архитектурный эталон MES/APC/ADC, но метрики редко публичны.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01025" y="3582963"/>
            <a:ext cx="3486150" cy="9525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/>
        </p:spPr>
      </p:sp>
      <p:sp>
        <p:nvSpPr>
          <p:cNvPr id="45" name="Text 43"/>
          <p:cNvSpPr/>
          <p:nvPr/>
        </p:nvSpPr>
        <p:spPr>
          <a:xfrm>
            <a:off x="8201025" y="3663925"/>
            <a:ext cx="354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Кейс: TSMC Intelligent Packaging Fab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5763" y="4059213"/>
            <a:ext cx="3724275" cy="1352550"/>
          </a:xfrm>
          <a:prstGeom prst="roundRect">
            <a:avLst>
              <a:gd name="adj" fmla="val 5634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4825" y="41782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06623" y="419732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66645" y="4178275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Видео для RCA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04825" y="4559275"/>
            <a:ext cx="35528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Видео как инструмент RCA масштабируется проще, чем «полный AI». 22 sites, 600 cams.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04825" y="5057775"/>
            <a:ext cx="3486150" cy="9525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/>
        </p:spPr>
      </p:sp>
      <p:sp>
        <p:nvSpPr>
          <p:cNvPr id="52" name="Text 50"/>
          <p:cNvSpPr/>
          <p:nvPr/>
        </p:nvSpPr>
        <p:spPr>
          <a:xfrm>
            <a:off x="504825" y="5138738"/>
            <a:ext cx="354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Кейс: Nestlé + Axis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233863" y="4059213"/>
            <a:ext cx="3724275" cy="1352550"/>
          </a:xfrm>
          <a:prstGeom prst="roundRect">
            <a:avLst>
              <a:gd name="adj" fmla="val 5634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52925" y="41782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4454723" y="419732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6B6D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8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833938" y="4178275"/>
            <a:ext cx="2738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Техдок + мультимодальность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352925" y="4559275"/>
            <a:ext cx="35528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 по PDF с рисунками требует отдельного контура OCR/перевода и ссылок на страницы.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352925" y="5057775"/>
            <a:ext cx="3486150" cy="9525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/>
        </p:spPr>
      </p:sp>
      <p:sp>
        <p:nvSpPr>
          <p:cNvPr id="59" name="Text 57"/>
          <p:cNvSpPr/>
          <p:nvPr/>
        </p:nvSpPr>
        <p:spPr>
          <a:xfrm>
            <a:off x="4352925" y="5138738"/>
            <a:ext cx="354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Кейс: Hyundai Staria RAG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081962" y="4059213"/>
            <a:ext cx="3724275" cy="1352550"/>
          </a:xfrm>
          <a:prstGeom prst="roundRect">
            <a:avLst>
              <a:gd name="adj" fmla="val 5634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01025" y="41782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8302823" y="419732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9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651300" y="4178275"/>
            <a:ext cx="17500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 в планировании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201025" y="4559275"/>
            <a:ext cx="35528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даёт именованные KPI на недельном горизонте; мост к загрузке линий — отдельный слой.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01025" y="5057775"/>
            <a:ext cx="3486150" cy="9525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/>
        </p:spPr>
      </p:sp>
      <p:sp>
        <p:nvSpPr>
          <p:cNvPr id="66" name="Text 64"/>
          <p:cNvSpPr/>
          <p:nvPr/>
        </p:nvSpPr>
        <p:spPr>
          <a:xfrm>
            <a:off x="8201025" y="5138738"/>
            <a:ext cx="354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Кейс: Atria + RELEX 98.1%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85763" y="5534025"/>
            <a:ext cx="11420475" cy="1093070"/>
          </a:xfrm>
          <a:prstGeom prst="roundRect">
            <a:avLst>
              <a:gd name="adj" fmla="val 8081"/>
            </a:avLst>
          </a:pr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85775" y="56911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9" name="Text 67"/>
          <p:cNvSpPr/>
          <p:nvPr/>
        </p:nvSpPr>
        <p:spPr>
          <a:xfrm>
            <a:off x="894361" y="5653088"/>
            <a:ext cx="108648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Контр-факт: почему 60% не получают выгоды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94361" y="5919788"/>
            <a:ext cx="1085532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 данным BCG (2025), 60% компаний глобально не генерируют материальной выгоды от AI. Главное узкое место —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интеграция OT/IT и владение проблемой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а не алгоритмы. Wirtek (2026): многие проекты не выходят за пилот из-за непонимания производственных систем.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u-images.contentstack.com/1b1bacd91ea565a7fc71212fa1575741e844f058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0F172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48325" y="595313"/>
            <a:ext cx="895350" cy="895350"/>
          </a:xfrm>
          <a:prstGeom prst="roundRect">
            <a:avLst>
              <a:gd name="adj" fmla="val 25532"/>
            </a:avLst>
          </a:prstGeom>
          <a:solidFill>
            <a:srgbClr val="F59E0B">
              <a:alpha val="20000"/>
            </a:srgbClr>
          </a:solidFill>
          <a:ln w="254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24550" y="871538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1431" y="21431"/>
                </a:moveTo>
                <a:cubicBezTo>
                  <a:pt x="9577" y="21431"/>
                  <a:pt x="0" y="31008"/>
                  <a:pt x="0" y="42863"/>
                </a:cubicBezTo>
                <a:lnTo>
                  <a:pt x="0" y="289322"/>
                </a:lnTo>
                <a:cubicBezTo>
                  <a:pt x="0" y="307070"/>
                  <a:pt x="14399" y="321469"/>
                  <a:pt x="32147" y="321469"/>
                </a:cubicBezTo>
                <a:lnTo>
                  <a:pt x="310753" y="321469"/>
                </a:lnTo>
                <a:cubicBezTo>
                  <a:pt x="328501" y="321469"/>
                  <a:pt x="342900" y="307070"/>
                  <a:pt x="342900" y="289322"/>
                </a:cubicBezTo>
                <a:lnTo>
                  <a:pt x="342900" y="101932"/>
                </a:lnTo>
                <a:cubicBezTo>
                  <a:pt x="342900" y="89743"/>
                  <a:pt x="329907" y="82042"/>
                  <a:pt x="319192" y="87801"/>
                </a:cubicBezTo>
                <a:lnTo>
                  <a:pt x="214313" y="144259"/>
                </a:lnTo>
                <a:lnTo>
                  <a:pt x="214313" y="101932"/>
                </a:lnTo>
                <a:cubicBezTo>
                  <a:pt x="214313" y="89743"/>
                  <a:pt x="201320" y="82042"/>
                  <a:pt x="190604" y="87801"/>
                </a:cubicBezTo>
                <a:lnTo>
                  <a:pt x="85725" y="144259"/>
                </a:lnTo>
                <a:lnTo>
                  <a:pt x="85725" y="42863"/>
                </a:lnTo>
                <a:cubicBezTo>
                  <a:pt x="85725" y="31008"/>
                  <a:pt x="76148" y="21431"/>
                  <a:pt x="64294" y="21431"/>
                </a:cubicBezTo>
                <a:lnTo>
                  <a:pt x="21431" y="2143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2295525" y="1728788"/>
            <a:ext cx="7600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AF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Спасибо за внимание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81250" y="2452688"/>
            <a:ext cx="74295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Искусственный интеллект на производстве — это не магия, а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инженерная дисциплина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требующая данных, интеграции и культуры.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431256" y="3876675"/>
            <a:ext cx="2238375" cy="1038225"/>
          </a:xfrm>
          <a:prstGeom prst="roundRect">
            <a:avLst>
              <a:gd name="adj" fmla="val 1100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40794" y="4071938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59E0B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20+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93181" y="4529138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проанализированных кейсов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979194" y="3876675"/>
            <a:ext cx="2238375" cy="1038225"/>
          </a:xfrm>
          <a:prstGeom prst="roundRect">
            <a:avLst>
              <a:gd name="adj" fmla="val 1100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88731" y="4071938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41119" y="4529138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отраслей промышленности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527131" y="3876675"/>
            <a:ext cx="2238375" cy="1038225"/>
          </a:xfrm>
          <a:prstGeom prst="roundRect">
            <a:avLst>
              <a:gd name="adj" fmla="val 1100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6669" y="4071938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59E0B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89056" y="4529138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ключевых выводов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155677" y="5229225"/>
            <a:ext cx="5876925" cy="1038225"/>
          </a:xfrm>
          <a:prstGeom prst="roundRect">
            <a:avLst>
              <a:gd name="adj" fmla="val 733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1902" y="5386388"/>
            <a:ext cx="532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Источник данных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427140" y="5653088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Аналитический саммари 20+ производственных кейсов применения ИИ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431902" y="5919788"/>
            <a:ext cx="532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Дата: май 2026 | NVIDIA, Siemens, Huawei, BCG, MDPI и др.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Искусственный интеллект на производстве: обзор реальных кейсов и метрик</dc:title>
  <dc:subject>Искусственный интеллект на производстве: обзор реальных кейсов и метрик</dc:subject>
  <dc:creator>Kimi</dc:creator>
  <cp:lastModifiedBy>Kimi</cp:lastModifiedBy>
  <cp:revision>1</cp:revision>
  <dcterms:created xsi:type="dcterms:W3CDTF">2026-05-02T18:16:45Z</dcterms:created>
  <dcterms:modified xsi:type="dcterms:W3CDTF">2026-05-02T18:16:45Z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{"Label":"Искусственный интеллект на производстве: обзор реальных кейсов и метрик","ContentProducer":"001191110108MACG2KBH8F10000","ProduceID":"19de39bb-1472-85c0-8000-00004e49df94","ReservedCode1":"","ContentPropagator":"001191110108MACG2KBH8F20000","PropagateID":"19de39bb-1472-85c0-8000-00004e49df94","ReservedCode2":""}</vt:lpwstr>
  </property>
</Properties>
</file>